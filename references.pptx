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6" r:id="rId1"/>
  </p:sldMasterIdLst>
  <p:sldIdLst>
    <p:sldId id="256" r:id="rId2"/>
    <p:sldId id="257" r:id="rId3"/>
    <p:sldId id="258" r:id="rId4"/>
    <p:sldId id="266" r:id="rId5"/>
    <p:sldId id="259" r:id="rId6"/>
    <p:sldId id="260" r:id="rId7"/>
    <p:sldId id="264" r:id="rId8"/>
    <p:sldId id="265" r:id="rId9"/>
    <p:sldId id="261" r:id="rId10"/>
    <p:sldId id="267" r:id="rId11"/>
    <p:sldId id="268" r:id="rId12"/>
    <p:sldId id="263" r:id="rId13"/>
    <p:sldId id="262" r:id="rId14"/>
    <p:sldId id="269" r:id="rId15"/>
    <p:sldId id="291" r:id="rId16"/>
    <p:sldId id="270" r:id="rId17"/>
    <p:sldId id="287" r:id="rId18"/>
    <p:sldId id="288" r:id="rId19"/>
    <p:sldId id="289"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279" autoAdjust="0"/>
    <p:restoredTop sz="92541" autoAdjust="0"/>
  </p:normalViewPr>
  <p:slideViewPr>
    <p:cSldViewPr snapToGrid="0">
      <p:cViewPr>
        <p:scale>
          <a:sx n="75" d="100"/>
          <a:sy n="75" d="100"/>
        </p:scale>
        <p:origin x="413"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B2CF8F9-A892-40D7-B41B-5B2FC806AA7B}" type="datetimeFigureOut">
              <a:rPr lang="en-IN" smtClean="0"/>
              <a:t>04-04-2024</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9FFAE827-5938-4FD4-95E0-3DC5B693F36B}"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5291918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CF8F9-A892-40D7-B41B-5B2FC806AA7B}"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3570100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2CF8F9-A892-40D7-B41B-5B2FC806AA7B}"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FAE827-5938-4FD4-95E0-3DC5B693F36B}"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90515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2CF8F9-A892-40D7-B41B-5B2FC806AA7B}"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118824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2CF8F9-A892-40D7-B41B-5B2FC806AA7B}" type="datetimeFigureOut">
              <a:rPr lang="en-IN" smtClean="0"/>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3118905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2CF8F9-A892-40D7-B41B-5B2FC806AA7B}" type="datetimeFigureOut">
              <a:rPr lang="en-IN" smtClean="0"/>
              <a:t>04-04-2024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220645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2CF8F9-A892-40D7-B41B-5B2FC806AA7B}" type="datetimeFigureOut">
              <a:rPr lang="en-IN" smtClean="0"/>
              <a:t>04-04-2024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387014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2CF8F9-A892-40D7-B41B-5B2FC806AA7B}"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744022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2CF8F9-A892-40D7-B41B-5B2FC806AA7B}"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168599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CF8F9-A892-40D7-B41B-5B2FC806AA7B}"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3486345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CF8F9-A892-40D7-B41B-5B2FC806AA7B}"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FAE827-5938-4FD4-95E0-3DC5B693F36B}" type="slidenum">
              <a:rPr lang="en-IN" smtClean="0"/>
              <a:t>‹#›</a:t>
            </a:fld>
            <a:endParaRPr lang="en-IN"/>
          </a:p>
        </p:txBody>
      </p:sp>
    </p:spTree>
    <p:extLst>
      <p:ext uri="{BB962C8B-B14F-4D97-AF65-F5344CB8AC3E}">
        <p14:creationId xmlns:p14="http://schemas.microsoft.com/office/powerpoint/2010/main" val="4216504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B2CF8F9-A892-40D7-B41B-5B2FC806AA7B}" type="datetimeFigureOut">
              <a:rPr lang="en-IN" smtClean="0"/>
              <a:t>04-04-2024</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9FFAE827-5938-4FD4-95E0-3DC5B693F36B}" type="slidenum">
              <a:rPr lang="en-IN" smtClean="0"/>
              <a:t>‹#›</a:t>
            </a:fld>
            <a:endParaRPr lang="en-IN"/>
          </a:p>
        </p:txBody>
      </p:sp>
    </p:spTree>
    <p:extLst>
      <p:ext uri="{BB962C8B-B14F-4D97-AF65-F5344CB8AC3E}">
        <p14:creationId xmlns:p14="http://schemas.microsoft.com/office/powerpoint/2010/main" val="2131776079"/>
      </p:ext>
    </p:extLst>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10" r:id="rId4"/>
    <p:sldLayoutId id="2147484111" r:id="rId5"/>
    <p:sldLayoutId id="2147484112" r:id="rId6"/>
    <p:sldLayoutId id="2147484113" r:id="rId7"/>
    <p:sldLayoutId id="2147484114" r:id="rId8"/>
    <p:sldLayoutId id="2147484115" r:id="rId9"/>
    <p:sldLayoutId id="2147484116" r:id="rId10"/>
    <p:sldLayoutId id="214748411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image" Target="../media/image17.pn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21.png" /><Relationship Id="rId1" Type="http://schemas.openxmlformats.org/officeDocument/2006/relationships/slideLayout" Target="../slideLayouts/slideLayout7.xml" /><Relationship Id="rId5" Type="http://schemas.openxmlformats.org/officeDocument/2006/relationships/image" Target="../media/image24.png" /><Relationship Id="rId4" Type="http://schemas.openxmlformats.org/officeDocument/2006/relationships/image" Target="../media/image23.png" /></Relationships>
</file>

<file path=ppt/slides/_rels/slide31.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image" Target="../media/image25.png"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2" Type="http://schemas.openxmlformats.org/officeDocument/2006/relationships/image" Target="../media/image27.png"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70DE-BD5E-27C5-4737-28660AFB8846}"/>
              </a:ext>
            </a:extLst>
          </p:cNvPr>
          <p:cNvSpPr>
            <a:spLocks noGrp="1"/>
          </p:cNvSpPr>
          <p:nvPr>
            <p:ph type="ctrTitle"/>
          </p:nvPr>
        </p:nvSpPr>
        <p:spPr>
          <a:xfrm>
            <a:off x="1261872" y="200152"/>
            <a:ext cx="9418320" cy="4041648"/>
          </a:xfrm>
        </p:spPr>
        <p:txBody>
          <a:bodyPr/>
          <a:lstStyle/>
          <a:p>
            <a:r>
              <a:rPr lang="en-IN" dirty="0"/>
              <a:t>E WASTE CLASSIFICATION</a:t>
            </a:r>
          </a:p>
        </p:txBody>
      </p:sp>
      <p:sp>
        <p:nvSpPr>
          <p:cNvPr id="3" name="Subtitle 2">
            <a:extLst>
              <a:ext uri="{FF2B5EF4-FFF2-40B4-BE49-F238E27FC236}">
                <a16:creationId xmlns:a16="http://schemas.microsoft.com/office/drawing/2014/main" id="{34D32D23-4911-F0A6-F149-86CE42478028}"/>
              </a:ext>
            </a:extLst>
          </p:cNvPr>
          <p:cNvSpPr>
            <a:spLocks noGrp="1"/>
          </p:cNvSpPr>
          <p:nvPr>
            <p:ph type="subTitle" idx="1"/>
          </p:nvPr>
        </p:nvSpPr>
        <p:spPr/>
        <p:txBody>
          <a:bodyPr>
            <a:normAutofit/>
          </a:bodyPr>
          <a:lstStyle/>
          <a:p>
            <a:r>
              <a:rPr lang="en-IN" dirty="0" err="1"/>
              <a:t>Srita</a:t>
            </a:r>
            <a:r>
              <a:rPr lang="en-IN" dirty="0"/>
              <a:t> Shukla</a:t>
            </a:r>
          </a:p>
          <a:p>
            <a:r>
              <a:rPr lang="en-IN" dirty="0"/>
              <a:t>Kanishka Goyal</a:t>
            </a:r>
          </a:p>
          <a:p>
            <a:r>
              <a:rPr lang="en-IN" dirty="0"/>
              <a:t>A</a:t>
            </a:r>
            <a:r>
              <a:rPr lang="en-US" dirty="0"/>
              <a:t>a</a:t>
            </a:r>
            <a:r>
              <a:rPr lang="en-IN" dirty="0" err="1"/>
              <a:t>yush</a:t>
            </a:r>
            <a:r>
              <a:rPr lang="en-IN" dirty="0"/>
              <a:t> Rai</a:t>
            </a:r>
          </a:p>
        </p:txBody>
      </p:sp>
    </p:spTree>
    <p:extLst>
      <p:ext uri="{BB962C8B-B14F-4D97-AF65-F5344CB8AC3E}">
        <p14:creationId xmlns:p14="http://schemas.microsoft.com/office/powerpoint/2010/main" val="375219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135E-DE7E-4C8E-97A8-7998AEF9A945}"/>
              </a:ext>
            </a:extLst>
          </p:cNvPr>
          <p:cNvSpPr>
            <a:spLocks noGrp="1"/>
          </p:cNvSpPr>
          <p:nvPr>
            <p:ph type="title"/>
          </p:nvPr>
        </p:nvSpPr>
        <p:spPr>
          <a:xfrm>
            <a:off x="690154" y="-136297"/>
            <a:ext cx="9692640" cy="1325562"/>
          </a:xfrm>
        </p:spPr>
        <p:txBody>
          <a:bodyPr/>
          <a:lstStyle/>
          <a:p>
            <a:r>
              <a:rPr lang="en-US" dirty="0"/>
              <a:t>Dataset</a:t>
            </a:r>
            <a:endParaRPr lang="en-IN" dirty="0"/>
          </a:p>
        </p:txBody>
      </p:sp>
      <p:sp>
        <p:nvSpPr>
          <p:cNvPr id="3" name="Content Placeholder 2">
            <a:extLst>
              <a:ext uri="{FF2B5EF4-FFF2-40B4-BE49-F238E27FC236}">
                <a16:creationId xmlns:a16="http://schemas.microsoft.com/office/drawing/2014/main" id="{801A0890-48BC-D24E-3CB2-73E90FEF71A0}"/>
              </a:ext>
            </a:extLst>
          </p:cNvPr>
          <p:cNvSpPr>
            <a:spLocks noGrp="1"/>
          </p:cNvSpPr>
          <p:nvPr>
            <p:ph idx="1"/>
          </p:nvPr>
        </p:nvSpPr>
        <p:spPr>
          <a:xfrm>
            <a:off x="690154" y="1189900"/>
            <a:ext cx="10515600" cy="4351338"/>
          </a:xfrm>
        </p:spPr>
        <p:txBody>
          <a:bodyPr>
            <a:normAutofit fontScale="92500" lnSpcReduction="20000"/>
          </a:bodyPr>
          <a:lstStyle/>
          <a:p>
            <a:pPr marL="0" indent="0">
              <a:buNone/>
            </a:pPr>
            <a:endParaRPr lang="en-US" dirty="0"/>
          </a:p>
          <a:p>
            <a:pPr marL="0" indent="0">
              <a:buNone/>
            </a:pPr>
            <a:r>
              <a:rPr lang="en-US" dirty="0"/>
              <a:t>- Dataset Name: </a:t>
            </a:r>
            <a:r>
              <a:rPr lang="en-US" dirty="0" err="1"/>
              <a:t>ewaste</a:t>
            </a:r>
            <a:r>
              <a:rPr lang="en-US" dirty="0"/>
              <a:t> segregator</a:t>
            </a:r>
          </a:p>
          <a:p>
            <a:pPr marL="0" indent="0">
              <a:buNone/>
            </a:pPr>
            <a:r>
              <a:rPr lang="en-US" dirty="0"/>
              <a:t>- Number of Classes: 10</a:t>
            </a:r>
          </a:p>
          <a:p>
            <a:pPr marL="0" indent="0">
              <a:buNone/>
            </a:pPr>
            <a:r>
              <a:rPr lang="en-US" dirty="0"/>
              <a:t>- Classes: The dataset comprises various classes representing electronic waste items such as mouse, keyboard, and others.</a:t>
            </a:r>
          </a:p>
          <a:p>
            <a:pPr marL="0" indent="0">
              <a:buNone/>
            </a:pPr>
            <a:r>
              <a:rPr lang="en-US" dirty="0"/>
              <a:t>- Training Dataset Size: 2400 samples</a:t>
            </a:r>
          </a:p>
          <a:p>
            <a:pPr marL="0" indent="0">
              <a:buNone/>
            </a:pPr>
            <a:r>
              <a:rPr lang="en-US" dirty="0"/>
              <a:t>- Testing Dataset Size:300 samples</a:t>
            </a:r>
          </a:p>
          <a:p>
            <a:pPr marL="0" indent="0">
              <a:buNone/>
            </a:pPr>
            <a:r>
              <a:rPr lang="en-US" dirty="0"/>
              <a:t>- Data Split: The dataset is split into a training set containing 2400 samples and a testing set containing 300 samples.</a:t>
            </a:r>
          </a:p>
          <a:p>
            <a:pPr marL="0" indent="0">
              <a:buNone/>
            </a:pPr>
            <a:r>
              <a:rPr lang="en-US" dirty="0"/>
              <a:t>- Task Type: The dataset is suitable for classification tasks where the goal is to classify input images into one of the 10 predefined classes representing different electronic waste items.</a:t>
            </a:r>
          </a:p>
          <a:p>
            <a:pPr>
              <a:buFontTx/>
              <a:buChar char="-"/>
            </a:pPr>
            <a:r>
              <a:rPr lang="en-US" dirty="0"/>
              <a:t>Evaluation Metric: Evaluation metric for this task include accuracy.</a:t>
            </a:r>
          </a:p>
          <a:p>
            <a:pPr>
              <a:buFontTx/>
              <a:buChar char="-"/>
            </a:pPr>
            <a:endParaRPr lang="en-US" dirty="0"/>
          </a:p>
          <a:p>
            <a:pPr>
              <a:buFontTx/>
              <a:buChar char="-"/>
            </a:pPr>
            <a:endParaRPr lang="en-US" dirty="0"/>
          </a:p>
          <a:p>
            <a:pPr marL="0" indent="0">
              <a:buNone/>
            </a:pPr>
            <a:endParaRPr lang="en-US" dirty="0"/>
          </a:p>
        </p:txBody>
      </p:sp>
      <p:pic>
        <p:nvPicPr>
          <p:cNvPr id="7" name="Picture 6">
            <a:extLst>
              <a:ext uri="{FF2B5EF4-FFF2-40B4-BE49-F238E27FC236}">
                <a16:creationId xmlns:a16="http://schemas.microsoft.com/office/drawing/2014/main" id="{4E470154-936B-2749-9587-653B5A78BB2E}"/>
              </a:ext>
            </a:extLst>
          </p:cNvPr>
          <p:cNvPicPr>
            <a:picLocks noChangeAspect="1"/>
          </p:cNvPicPr>
          <p:nvPr/>
        </p:nvPicPr>
        <p:blipFill>
          <a:blip r:embed="rId2"/>
          <a:stretch>
            <a:fillRect/>
          </a:stretch>
        </p:blipFill>
        <p:spPr>
          <a:xfrm>
            <a:off x="690154" y="5205326"/>
            <a:ext cx="8786960" cy="1287549"/>
          </a:xfrm>
          <a:prstGeom prst="rect">
            <a:avLst/>
          </a:prstGeom>
        </p:spPr>
      </p:pic>
    </p:spTree>
    <p:extLst>
      <p:ext uri="{BB962C8B-B14F-4D97-AF65-F5344CB8AC3E}">
        <p14:creationId xmlns:p14="http://schemas.microsoft.com/office/powerpoint/2010/main" val="184591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7B8B0-0591-93F3-E53C-DB58D66BB2A7}"/>
              </a:ext>
            </a:extLst>
          </p:cNvPr>
          <p:cNvSpPr>
            <a:spLocks noGrp="1"/>
          </p:cNvSpPr>
          <p:nvPr>
            <p:ph type="title"/>
          </p:nvPr>
        </p:nvSpPr>
        <p:spPr>
          <a:xfrm>
            <a:off x="838199" y="102035"/>
            <a:ext cx="7809411" cy="847199"/>
          </a:xfrm>
        </p:spPr>
        <p:txBody>
          <a:bodyPr>
            <a:normAutofit/>
          </a:bodyPr>
          <a:lstStyle/>
          <a:p>
            <a:r>
              <a:rPr lang="en-US" dirty="0"/>
              <a:t>Image preprocessing</a:t>
            </a:r>
            <a:endParaRPr lang="en-IN" dirty="0"/>
          </a:p>
        </p:txBody>
      </p:sp>
      <p:sp>
        <p:nvSpPr>
          <p:cNvPr id="3" name="Content Placeholder 2">
            <a:extLst>
              <a:ext uri="{FF2B5EF4-FFF2-40B4-BE49-F238E27FC236}">
                <a16:creationId xmlns:a16="http://schemas.microsoft.com/office/drawing/2014/main" id="{EF018787-F6DE-A023-64D2-391099043DC9}"/>
              </a:ext>
            </a:extLst>
          </p:cNvPr>
          <p:cNvSpPr>
            <a:spLocks noGrp="1"/>
          </p:cNvSpPr>
          <p:nvPr>
            <p:ph idx="1"/>
          </p:nvPr>
        </p:nvSpPr>
        <p:spPr>
          <a:xfrm>
            <a:off x="838201" y="1043195"/>
            <a:ext cx="10515600" cy="5401148"/>
          </a:xfrm>
        </p:spPr>
        <p:txBody>
          <a:bodyPr>
            <a:normAutofit lnSpcReduction="10000"/>
          </a:bodyPr>
          <a:lstStyle/>
          <a:p>
            <a:pPr marL="0" indent="0">
              <a:buNone/>
            </a:pPr>
            <a:endParaRPr lang="en-US" dirty="0"/>
          </a:p>
          <a:p>
            <a:pPr marL="0" indent="0">
              <a:buNone/>
            </a:pPr>
            <a:r>
              <a:rPr lang="en-US" dirty="0"/>
              <a:t>- Preprocessing: Before using the images for training or testing, they are preprocessed in the following steps:</a:t>
            </a:r>
          </a:p>
          <a:p>
            <a:r>
              <a:rPr lang="en-US" dirty="0"/>
              <a:t>  - Converted to Tensor: The images are converted into tensor format, which is a multi-dimensional array representation suitable for deep learning frameworks like </a:t>
            </a:r>
            <a:r>
              <a:rPr lang="en-US" dirty="0" err="1"/>
              <a:t>PyTorch</a:t>
            </a:r>
            <a:r>
              <a:rPr lang="en-US" dirty="0"/>
              <a:t>.</a:t>
            </a:r>
          </a:p>
          <a:p>
            <a:r>
              <a:rPr lang="en-US" dirty="0"/>
              <a:t>  - Resized: The images are resized to a standardized size of 224x224 pixels. This step ensures that all images have the same dimensions, which is often required for feeding them into deep learning models.</a:t>
            </a:r>
          </a:p>
          <a:p>
            <a:r>
              <a:rPr lang="en-US" dirty="0"/>
              <a:t>  - Normalized: The pixel values of the images are normalized using the mean and standard deviation values commonly used for the ImageNet dataset. These normalization values are `[0.485, 0.456, 0.406]` for mean and `[0.229, 0.224, 0.225]` for standard deviation. Normalization helps in stabilizing and accelerating the training process of deep neural networks.</a:t>
            </a:r>
          </a:p>
          <a:p>
            <a:r>
              <a:rPr lang="en-US" dirty="0"/>
              <a:t>- Dataset Loading: The dataset is imported using `</a:t>
            </a:r>
            <a:r>
              <a:rPr lang="en-US" dirty="0" err="1"/>
              <a:t>ImageFolder</a:t>
            </a:r>
            <a:r>
              <a:rPr lang="en-US" dirty="0"/>
              <a:t>`, a utility provided by </a:t>
            </a:r>
            <a:r>
              <a:rPr lang="en-US" dirty="0" err="1"/>
              <a:t>PyTorch</a:t>
            </a:r>
            <a:r>
              <a:rPr lang="en-US" dirty="0"/>
              <a:t>, for loading datasets from subdirectories. This utility automatically handles the loading of images from subfolders and assigns labels based on the directory structure. This approach simplifies the process of loading and organizing image datasets for training deep learning models.</a:t>
            </a:r>
          </a:p>
          <a:p>
            <a:endParaRPr lang="en-US" dirty="0"/>
          </a:p>
        </p:txBody>
      </p:sp>
    </p:spTree>
    <p:extLst>
      <p:ext uri="{BB962C8B-B14F-4D97-AF65-F5344CB8AC3E}">
        <p14:creationId xmlns:p14="http://schemas.microsoft.com/office/powerpoint/2010/main" val="137574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E13B4B-03A1-2273-6A6C-1C6A6F5AA4BE}"/>
              </a:ext>
            </a:extLst>
          </p:cNvPr>
          <p:cNvPicPr>
            <a:picLocks noChangeAspect="1"/>
          </p:cNvPicPr>
          <p:nvPr/>
        </p:nvPicPr>
        <p:blipFill>
          <a:blip r:embed="rId2"/>
          <a:stretch>
            <a:fillRect/>
          </a:stretch>
        </p:blipFill>
        <p:spPr>
          <a:xfrm>
            <a:off x="783936" y="1175657"/>
            <a:ext cx="9884063" cy="4192756"/>
          </a:xfrm>
          <a:prstGeom prst="rect">
            <a:avLst/>
          </a:prstGeom>
        </p:spPr>
      </p:pic>
    </p:spTree>
    <p:extLst>
      <p:ext uri="{BB962C8B-B14F-4D97-AF65-F5344CB8AC3E}">
        <p14:creationId xmlns:p14="http://schemas.microsoft.com/office/powerpoint/2010/main" val="3542645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B593-E6EC-78D9-ECBA-EC6A8AB43EBF}"/>
              </a:ext>
            </a:extLst>
          </p:cNvPr>
          <p:cNvSpPr>
            <a:spLocks noGrp="1"/>
          </p:cNvSpPr>
          <p:nvPr>
            <p:ph type="title"/>
          </p:nvPr>
        </p:nvSpPr>
        <p:spPr>
          <a:xfrm>
            <a:off x="854138" y="-662782"/>
            <a:ext cx="10515600" cy="1325563"/>
          </a:xfrm>
        </p:spPr>
        <p:txBody>
          <a:bodyPr/>
          <a:lstStyle/>
          <a:p>
            <a:r>
              <a:rPr lang="en-US" dirty="0"/>
              <a:t>Data loader</a:t>
            </a:r>
            <a:endParaRPr lang="en-IN" dirty="0"/>
          </a:p>
        </p:txBody>
      </p:sp>
      <p:sp>
        <p:nvSpPr>
          <p:cNvPr id="3" name="Content Placeholder 2">
            <a:extLst>
              <a:ext uri="{FF2B5EF4-FFF2-40B4-BE49-F238E27FC236}">
                <a16:creationId xmlns:a16="http://schemas.microsoft.com/office/drawing/2014/main" id="{648CEE61-01F2-13E3-1F6A-8C1FF720A081}"/>
              </a:ext>
            </a:extLst>
          </p:cNvPr>
          <p:cNvSpPr>
            <a:spLocks noGrp="1"/>
          </p:cNvSpPr>
          <p:nvPr>
            <p:ph idx="1"/>
          </p:nvPr>
        </p:nvSpPr>
        <p:spPr>
          <a:xfrm>
            <a:off x="644434" y="662781"/>
            <a:ext cx="10515600" cy="4351338"/>
          </a:xfrm>
        </p:spPr>
        <p:txBody>
          <a:bodyPr>
            <a:normAutofit/>
          </a:bodyPr>
          <a:lstStyle/>
          <a:p>
            <a:pPr marL="0" indent="0">
              <a:buNone/>
            </a:pPr>
            <a:endParaRPr lang="en-US" dirty="0"/>
          </a:p>
          <a:p>
            <a:r>
              <a:rPr lang="en-US" dirty="0"/>
              <a:t>- Data Loader Import: The data loader functionality is imported from a deep learning framework, such as </a:t>
            </a:r>
            <a:r>
              <a:rPr lang="en-US" dirty="0" err="1"/>
              <a:t>PyTorch</a:t>
            </a:r>
            <a:r>
              <a:rPr lang="en-US" dirty="0"/>
              <a:t> . Data loaders are utilities that facilitate the processing of datasets in batches during model training and evaluation.</a:t>
            </a:r>
          </a:p>
          <a:p>
            <a:r>
              <a:rPr lang="en-US" dirty="0"/>
              <a:t>- Transformations: Before loading the data into the model, transformations are applied to the input images. These transformations typically include resizing, converting to tensor format, and normalization. </a:t>
            </a:r>
          </a:p>
          <a:p>
            <a:r>
              <a:rPr lang="en-US" dirty="0"/>
              <a:t>- Batch Size: During dataset loading, the data loader splits the dataset into batches of a specified size. Batch processing allows the model to process multiple images simultaneously, which can improve training efficiency and utilize parallel computing resources effectively.</a:t>
            </a:r>
          </a:p>
          <a:p>
            <a:pPr marL="0" indent="0">
              <a:buNone/>
            </a:pPr>
            <a:endParaRPr lang="en-US" dirty="0"/>
          </a:p>
        </p:txBody>
      </p:sp>
      <p:pic>
        <p:nvPicPr>
          <p:cNvPr id="5" name="Picture 4">
            <a:extLst>
              <a:ext uri="{FF2B5EF4-FFF2-40B4-BE49-F238E27FC236}">
                <a16:creationId xmlns:a16="http://schemas.microsoft.com/office/drawing/2014/main" id="{0BB62C6B-2DD6-A7D4-F960-E8753C6E1A43}"/>
              </a:ext>
            </a:extLst>
          </p:cNvPr>
          <p:cNvPicPr>
            <a:picLocks noChangeAspect="1"/>
          </p:cNvPicPr>
          <p:nvPr/>
        </p:nvPicPr>
        <p:blipFill>
          <a:blip r:embed="rId2"/>
          <a:stretch>
            <a:fillRect/>
          </a:stretch>
        </p:blipFill>
        <p:spPr>
          <a:xfrm>
            <a:off x="644434" y="4640631"/>
            <a:ext cx="10935009" cy="1897292"/>
          </a:xfrm>
          <a:prstGeom prst="rect">
            <a:avLst/>
          </a:prstGeom>
        </p:spPr>
      </p:pic>
    </p:spTree>
    <p:extLst>
      <p:ext uri="{BB962C8B-B14F-4D97-AF65-F5344CB8AC3E}">
        <p14:creationId xmlns:p14="http://schemas.microsoft.com/office/powerpoint/2010/main" val="1238405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7A0F-FB92-846D-1009-4FEA91349C1A}"/>
              </a:ext>
            </a:extLst>
          </p:cNvPr>
          <p:cNvSpPr>
            <a:spLocks noGrp="1"/>
          </p:cNvSpPr>
          <p:nvPr>
            <p:ph type="title"/>
          </p:nvPr>
        </p:nvSpPr>
        <p:spPr>
          <a:xfrm>
            <a:off x="1109472" y="-264160"/>
            <a:ext cx="9692640" cy="1325562"/>
          </a:xfrm>
        </p:spPr>
        <p:txBody>
          <a:bodyPr/>
          <a:lstStyle/>
          <a:p>
            <a:r>
              <a:rPr lang="en-US" dirty="0"/>
              <a:t>Why pretrained?</a:t>
            </a:r>
            <a:endParaRPr lang="en-IN" dirty="0"/>
          </a:p>
        </p:txBody>
      </p:sp>
      <p:sp>
        <p:nvSpPr>
          <p:cNvPr id="3" name="Content Placeholder 2">
            <a:extLst>
              <a:ext uri="{FF2B5EF4-FFF2-40B4-BE49-F238E27FC236}">
                <a16:creationId xmlns:a16="http://schemas.microsoft.com/office/drawing/2014/main" id="{2408322A-2618-9544-1764-75F7DADE8E84}"/>
              </a:ext>
            </a:extLst>
          </p:cNvPr>
          <p:cNvSpPr>
            <a:spLocks noGrp="1"/>
          </p:cNvSpPr>
          <p:nvPr>
            <p:ph idx="1"/>
          </p:nvPr>
        </p:nvSpPr>
        <p:spPr>
          <a:xfrm>
            <a:off x="838200" y="1128644"/>
            <a:ext cx="10515600" cy="5282316"/>
          </a:xfrm>
        </p:spPr>
        <p:txBody>
          <a:bodyPr>
            <a:normAutofit/>
          </a:bodyPr>
          <a:lstStyle/>
          <a:p>
            <a:endParaRPr lang="en-US" dirty="0"/>
          </a:p>
          <a:p>
            <a:r>
              <a:rPr lang="en-US" dirty="0"/>
              <a:t>1. Transfer Learning: Pre-trained models, such as ResNet-50, VGG16, and YOLOv9, have been trained on large-scale datasets (e.g., ImageNet) for tasks like image classification, object detection, or semantic segmentation. These models have learned rich and generalizable features from vast amounts of data. </a:t>
            </a:r>
          </a:p>
          <a:p>
            <a:r>
              <a:rPr lang="en-US" dirty="0"/>
              <a:t>2. Feature Extraction: Pre-trained models act as feature extractors, where the early layers of the network learn low-level features like edges, textures, and colors, while deeper layers learn high-level features like object shapes and semantic information. By using a pre-trained model, we can extract meaningful features from our dataset without the need to train the entire network from scratch. This can significantly reduce the computational resources and time required for training.</a:t>
            </a:r>
          </a:p>
          <a:p>
            <a:r>
              <a:rPr lang="en-US" dirty="0"/>
              <a:t>3. Fine-Tuning: In addition to feature extraction, pre-trained models can be fine-tuned on our specific dataset to adapt the learned features to our task. Fine-tuning involves unfreezing some of the layers in the pre-trained model and retraining them on our dataset while keeping the rest of the network parameters fixed. Fine-tuning allows the model to learn task-specific nuances from our data while still benefiting from the general features learned during pre-training.</a:t>
            </a:r>
          </a:p>
          <a:p>
            <a:endParaRPr lang="en-US" dirty="0"/>
          </a:p>
        </p:txBody>
      </p:sp>
    </p:spTree>
    <p:extLst>
      <p:ext uri="{BB962C8B-B14F-4D97-AF65-F5344CB8AC3E}">
        <p14:creationId xmlns:p14="http://schemas.microsoft.com/office/powerpoint/2010/main" val="3336796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B608-6367-3E51-3243-29EE7549EEBC}"/>
              </a:ext>
            </a:extLst>
          </p:cNvPr>
          <p:cNvSpPr>
            <a:spLocks noGrp="1"/>
          </p:cNvSpPr>
          <p:nvPr>
            <p:ph type="title"/>
          </p:nvPr>
        </p:nvSpPr>
        <p:spPr/>
        <p:txBody>
          <a:bodyPr/>
          <a:lstStyle/>
          <a:p>
            <a:r>
              <a:rPr lang="en-US" dirty="0"/>
              <a:t>Why VGG16</a:t>
            </a:r>
            <a:endParaRPr lang="en-IN" dirty="0"/>
          </a:p>
        </p:txBody>
      </p:sp>
      <p:sp>
        <p:nvSpPr>
          <p:cNvPr id="3" name="Content Placeholder 2">
            <a:extLst>
              <a:ext uri="{FF2B5EF4-FFF2-40B4-BE49-F238E27FC236}">
                <a16:creationId xmlns:a16="http://schemas.microsoft.com/office/drawing/2014/main" id="{921AFAA4-DD12-849E-C370-6014CF018BBD}"/>
              </a:ext>
            </a:extLst>
          </p:cNvPr>
          <p:cNvSpPr>
            <a:spLocks noGrp="1"/>
          </p:cNvSpPr>
          <p:nvPr>
            <p:ph idx="1"/>
          </p:nvPr>
        </p:nvSpPr>
        <p:spPr>
          <a:xfrm>
            <a:off x="1261872" y="1828800"/>
            <a:ext cx="8595360" cy="4815840"/>
          </a:xfrm>
        </p:spPr>
        <p:txBody>
          <a:bodyPr/>
          <a:lstStyle/>
          <a:p>
            <a:pPr marL="0" indent="0">
              <a:buNone/>
            </a:pPr>
            <a:endParaRPr lang="en-US" dirty="0"/>
          </a:p>
          <a:p>
            <a:r>
              <a:rPr lang="en-US" dirty="0"/>
              <a:t>1. It has a uniform architecture, simplifying design and implementation.</a:t>
            </a:r>
          </a:p>
          <a:p>
            <a:r>
              <a:rPr lang="en-US" dirty="0"/>
              <a:t>2. Its depth allows for hierarchical feature extraction.</a:t>
            </a:r>
          </a:p>
          <a:p>
            <a:r>
              <a:rPr lang="en-US" dirty="0"/>
              <a:t>3. It achieves competitive performance on image classification tasks.</a:t>
            </a:r>
          </a:p>
          <a:p>
            <a:r>
              <a:rPr lang="en-US" dirty="0"/>
              <a:t>4. Pre-trained models are available for transfer learning, making it accessible and practical for various applications.</a:t>
            </a:r>
            <a:endParaRPr lang="en-IN" dirty="0"/>
          </a:p>
        </p:txBody>
      </p:sp>
    </p:spTree>
    <p:extLst>
      <p:ext uri="{BB962C8B-B14F-4D97-AF65-F5344CB8AC3E}">
        <p14:creationId xmlns:p14="http://schemas.microsoft.com/office/powerpoint/2010/main" val="3039177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33D3-527D-91F3-487E-7B15FA4AEF09}"/>
              </a:ext>
            </a:extLst>
          </p:cNvPr>
          <p:cNvSpPr>
            <a:spLocks noGrp="1"/>
          </p:cNvSpPr>
          <p:nvPr>
            <p:ph type="title"/>
          </p:nvPr>
        </p:nvSpPr>
        <p:spPr/>
        <p:txBody>
          <a:bodyPr/>
          <a:lstStyle/>
          <a:p>
            <a:r>
              <a:rPr lang="en-US" dirty="0"/>
              <a:t>Model hyperparameters</a:t>
            </a:r>
            <a:endParaRPr lang="en-IN" dirty="0"/>
          </a:p>
        </p:txBody>
      </p:sp>
      <p:sp>
        <p:nvSpPr>
          <p:cNvPr id="3" name="Content Placeholder 2">
            <a:extLst>
              <a:ext uri="{FF2B5EF4-FFF2-40B4-BE49-F238E27FC236}">
                <a16:creationId xmlns:a16="http://schemas.microsoft.com/office/drawing/2014/main" id="{F49CF207-A084-18CA-B40A-F413B02AF91D}"/>
              </a:ext>
            </a:extLst>
          </p:cNvPr>
          <p:cNvSpPr>
            <a:spLocks noGrp="1"/>
          </p:cNvSpPr>
          <p:nvPr>
            <p:ph idx="1"/>
          </p:nvPr>
        </p:nvSpPr>
        <p:spPr/>
        <p:txBody>
          <a:bodyPr/>
          <a:lstStyle/>
          <a:p>
            <a:r>
              <a:rPr lang="en-US" dirty="0"/>
              <a:t>Number of epochs = 10</a:t>
            </a:r>
          </a:p>
          <a:p>
            <a:r>
              <a:rPr lang="en-US" dirty="0"/>
              <a:t>Learning rate = 0.01</a:t>
            </a:r>
          </a:p>
          <a:p>
            <a:r>
              <a:rPr lang="en-US" dirty="0" err="1"/>
              <a:t>Optimiser</a:t>
            </a:r>
            <a:r>
              <a:rPr lang="en-US" dirty="0"/>
              <a:t> = SGD</a:t>
            </a:r>
          </a:p>
          <a:p>
            <a:r>
              <a:rPr lang="en-US" dirty="0"/>
              <a:t>Loss = Cross entropy loss</a:t>
            </a:r>
            <a:endParaRPr lang="en-IN" dirty="0"/>
          </a:p>
          <a:p>
            <a:endParaRPr lang="en-IN" dirty="0"/>
          </a:p>
        </p:txBody>
      </p:sp>
    </p:spTree>
    <p:extLst>
      <p:ext uri="{BB962C8B-B14F-4D97-AF65-F5344CB8AC3E}">
        <p14:creationId xmlns:p14="http://schemas.microsoft.com/office/powerpoint/2010/main" val="3613928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FC4BB-192F-23F5-C142-23B2A3AD0FC0}"/>
              </a:ext>
            </a:extLst>
          </p:cNvPr>
          <p:cNvSpPr>
            <a:spLocks noGrp="1"/>
          </p:cNvSpPr>
          <p:nvPr>
            <p:ph type="title"/>
          </p:nvPr>
        </p:nvSpPr>
        <p:spPr>
          <a:xfrm>
            <a:off x="838200" y="-81280"/>
            <a:ext cx="9692640" cy="1325562"/>
          </a:xfrm>
        </p:spPr>
        <p:txBody>
          <a:bodyPr/>
          <a:lstStyle/>
          <a:p>
            <a:r>
              <a:rPr lang="en-US" dirty="0"/>
              <a:t>Why Resnet50</a:t>
            </a:r>
            <a:endParaRPr lang="en-IN" dirty="0"/>
          </a:p>
        </p:txBody>
      </p:sp>
      <p:sp>
        <p:nvSpPr>
          <p:cNvPr id="3" name="Content Placeholder 2">
            <a:extLst>
              <a:ext uri="{FF2B5EF4-FFF2-40B4-BE49-F238E27FC236}">
                <a16:creationId xmlns:a16="http://schemas.microsoft.com/office/drawing/2014/main" id="{602BE1E0-4604-F54F-ABC6-DDAD8CC9147B}"/>
              </a:ext>
            </a:extLst>
          </p:cNvPr>
          <p:cNvSpPr>
            <a:spLocks noGrp="1"/>
          </p:cNvSpPr>
          <p:nvPr>
            <p:ph idx="1"/>
          </p:nvPr>
        </p:nvSpPr>
        <p:spPr>
          <a:xfrm>
            <a:off x="345440" y="1244282"/>
            <a:ext cx="11008360" cy="5308918"/>
          </a:xfrm>
        </p:spPr>
        <p:txBody>
          <a:bodyPr>
            <a:normAutofit fontScale="92500"/>
          </a:bodyPr>
          <a:lstStyle/>
          <a:p>
            <a:pPr marL="0" indent="0">
              <a:buNone/>
            </a:pPr>
            <a:r>
              <a:rPr lang="en-US" dirty="0"/>
              <a:t>ResNet-50, short for Residual Network with 50 layers, is a deep convolutional neural network architecture that addresses the vanishing gradient problem commonly encountered in training deep neural networks. It achieves this by introducing skip connections, also known as shortcut connections or residual connections, which allow the gradients to flow more easily during training.</a:t>
            </a:r>
          </a:p>
          <a:p>
            <a:pPr marL="0" indent="0">
              <a:buNone/>
            </a:pPr>
            <a:r>
              <a:rPr lang="en-US" dirty="0"/>
              <a:t>1. Skip Connections: ResNet-50 incorporates skip connections that bypass one or more layers in the network. These skip connections enable the network to learn residual mappings, which are the differences between the desired output and the current output of a layer. By learning these residual mappings, the network can focus on refining the learned features, making it easier to train deeper architectures.</a:t>
            </a:r>
          </a:p>
          <a:p>
            <a:pPr marL="0" indent="0">
              <a:buNone/>
            </a:pPr>
            <a:r>
              <a:rPr lang="en-US" dirty="0"/>
              <a:t>2. Depth: ResNet-50 consists of 50 layers, making it a deep neural network. The depth of the network allows it to learn hierarchical representations of data, capturing increasingly abstract and complex features as information propagates through the layers. This depth is essential for handling complex tasks and datasets with high levels of variability.</a:t>
            </a:r>
          </a:p>
          <a:p>
            <a:pPr marL="0" indent="0">
              <a:buNone/>
            </a:pPr>
            <a:r>
              <a:rPr lang="en-US" dirty="0"/>
              <a:t>3. Transfer Learning: Transfer learning is utilized with ResNet-50 by leveraging the pre-training done on the ImageNet dataset. ImageNet is a large-scale dataset with millions of images across thousands of categories. By pre-training on ImageNet, ResNet-50 has already learned to extract rich and generalizable features from images, making it highly effective for various computer vision tasks. Transfer learning with ResNet-50 involves fine-tuning the network on a specific task or dataset, allowing it to adapt its learned features to the new domain while retaining the knowledge gained from ImageNet.</a:t>
            </a:r>
          </a:p>
          <a:p>
            <a:pPr marL="0" indent="0">
              <a:buNone/>
            </a:pPr>
            <a:endParaRPr lang="en-US" dirty="0"/>
          </a:p>
        </p:txBody>
      </p:sp>
    </p:spTree>
    <p:extLst>
      <p:ext uri="{BB962C8B-B14F-4D97-AF65-F5344CB8AC3E}">
        <p14:creationId xmlns:p14="http://schemas.microsoft.com/office/powerpoint/2010/main" val="14280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DC0B06-B012-28DA-9945-26721BA95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760" y="81280"/>
            <a:ext cx="9752694" cy="6575030"/>
          </a:xfrm>
          <a:prstGeom prst="rect">
            <a:avLst/>
          </a:prstGeom>
        </p:spPr>
      </p:pic>
    </p:spTree>
    <p:extLst>
      <p:ext uri="{BB962C8B-B14F-4D97-AF65-F5344CB8AC3E}">
        <p14:creationId xmlns:p14="http://schemas.microsoft.com/office/powerpoint/2010/main" val="1023135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D4F2-8379-7783-DC53-7B22EBD6CE7E}"/>
              </a:ext>
            </a:extLst>
          </p:cNvPr>
          <p:cNvSpPr>
            <a:spLocks noGrp="1"/>
          </p:cNvSpPr>
          <p:nvPr>
            <p:ph type="title"/>
          </p:nvPr>
        </p:nvSpPr>
        <p:spPr>
          <a:xfrm>
            <a:off x="177800" y="-60960"/>
            <a:ext cx="10515600" cy="1325563"/>
          </a:xfrm>
        </p:spPr>
        <p:txBody>
          <a:bodyPr/>
          <a:lstStyle/>
          <a:p>
            <a:r>
              <a:rPr lang="en-IN" dirty="0"/>
              <a:t>                            Testing model</a:t>
            </a:r>
          </a:p>
        </p:txBody>
      </p:sp>
      <p:pic>
        <p:nvPicPr>
          <p:cNvPr id="8" name="Content Placeholder 7">
            <a:extLst>
              <a:ext uri="{FF2B5EF4-FFF2-40B4-BE49-F238E27FC236}">
                <a16:creationId xmlns:a16="http://schemas.microsoft.com/office/drawing/2014/main" id="{6CC42B1A-F8F2-DC62-B7A6-1BC06409AB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5347" y="1442720"/>
            <a:ext cx="10012100" cy="5273040"/>
          </a:xfrm>
        </p:spPr>
      </p:pic>
    </p:spTree>
    <p:extLst>
      <p:ext uri="{BB962C8B-B14F-4D97-AF65-F5344CB8AC3E}">
        <p14:creationId xmlns:p14="http://schemas.microsoft.com/office/powerpoint/2010/main" val="3763950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7110-D0F3-B4EC-A693-FF2FAED70549}"/>
              </a:ext>
            </a:extLst>
          </p:cNvPr>
          <p:cNvSpPr>
            <a:spLocks noGrp="1"/>
          </p:cNvSpPr>
          <p:nvPr>
            <p:ph type="title"/>
          </p:nvPr>
        </p:nvSpPr>
        <p:spPr/>
        <p:txBody>
          <a:bodyPr/>
          <a:lstStyle/>
          <a:p>
            <a:r>
              <a:rPr lang="en-US" dirty="0"/>
              <a:t>Model hyperparameters</a:t>
            </a:r>
            <a:endParaRPr lang="en-IN" dirty="0"/>
          </a:p>
        </p:txBody>
      </p:sp>
      <p:sp>
        <p:nvSpPr>
          <p:cNvPr id="3" name="Content Placeholder 2">
            <a:extLst>
              <a:ext uri="{FF2B5EF4-FFF2-40B4-BE49-F238E27FC236}">
                <a16:creationId xmlns:a16="http://schemas.microsoft.com/office/drawing/2014/main" id="{D6C437BD-0468-FFBF-A488-42FC47D26F91}"/>
              </a:ext>
            </a:extLst>
          </p:cNvPr>
          <p:cNvSpPr>
            <a:spLocks noGrp="1"/>
          </p:cNvSpPr>
          <p:nvPr>
            <p:ph idx="1"/>
          </p:nvPr>
        </p:nvSpPr>
        <p:spPr/>
        <p:txBody>
          <a:bodyPr/>
          <a:lstStyle/>
          <a:p>
            <a:pPr marL="0" indent="0">
              <a:buNone/>
            </a:pPr>
            <a:r>
              <a:rPr lang="en-US" dirty="0"/>
              <a:t>The given parameters are for the best accuracy .</a:t>
            </a:r>
          </a:p>
          <a:p>
            <a:r>
              <a:rPr lang="en-US" dirty="0"/>
              <a:t>Number of epochs = 10</a:t>
            </a:r>
          </a:p>
          <a:p>
            <a:r>
              <a:rPr lang="en-US" dirty="0"/>
              <a:t>Learning rate = 0.001</a:t>
            </a:r>
          </a:p>
          <a:p>
            <a:r>
              <a:rPr lang="en-US" dirty="0" err="1"/>
              <a:t>Optimiser</a:t>
            </a:r>
            <a:r>
              <a:rPr lang="en-US" dirty="0"/>
              <a:t> = SGD</a:t>
            </a:r>
          </a:p>
          <a:p>
            <a:r>
              <a:rPr lang="en-US" dirty="0"/>
              <a:t>Loss = Cross entropy loss</a:t>
            </a:r>
            <a:endParaRPr lang="en-IN" dirty="0"/>
          </a:p>
        </p:txBody>
      </p:sp>
    </p:spTree>
    <p:extLst>
      <p:ext uri="{BB962C8B-B14F-4D97-AF65-F5344CB8AC3E}">
        <p14:creationId xmlns:p14="http://schemas.microsoft.com/office/powerpoint/2010/main" val="3632896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3D7CD-87EC-BD22-5BDD-61889BA18832}"/>
              </a:ext>
            </a:extLst>
          </p:cNvPr>
          <p:cNvSpPr>
            <a:spLocks noGrp="1"/>
          </p:cNvSpPr>
          <p:nvPr>
            <p:ph type="title"/>
          </p:nvPr>
        </p:nvSpPr>
        <p:spPr/>
        <p:txBody>
          <a:bodyPr>
            <a:normAutofit/>
          </a:bodyPr>
          <a:lstStyle/>
          <a:p>
            <a:r>
              <a:rPr lang="en-US" dirty="0"/>
              <a:t>Accuracy, confusion matrix , comparison</a:t>
            </a:r>
            <a:endParaRPr lang="en-IN" dirty="0"/>
          </a:p>
        </p:txBody>
      </p:sp>
      <p:sp>
        <p:nvSpPr>
          <p:cNvPr id="3" name="Content Placeholder 2">
            <a:extLst>
              <a:ext uri="{FF2B5EF4-FFF2-40B4-BE49-F238E27FC236}">
                <a16:creationId xmlns:a16="http://schemas.microsoft.com/office/drawing/2014/main" id="{473F23DF-EF5E-CC5F-2FB9-C7A8DAC690CC}"/>
              </a:ext>
            </a:extLst>
          </p:cNvPr>
          <p:cNvSpPr>
            <a:spLocks noGrp="1"/>
          </p:cNvSpPr>
          <p:nvPr>
            <p:ph idx="1"/>
          </p:nvPr>
        </p:nvSpPr>
        <p:spPr>
          <a:xfrm>
            <a:off x="573569" y="2466607"/>
            <a:ext cx="3695307" cy="1378126"/>
          </a:xfrm>
        </p:spPr>
        <p:txBody>
          <a:bodyPr>
            <a:normAutofit fontScale="40000" lnSpcReduction="20000"/>
          </a:bodyPr>
          <a:lstStyle/>
          <a:p>
            <a:pPr marL="0" indent="0">
              <a:buNone/>
            </a:pPr>
            <a:endParaRPr lang="en-US" sz="7200" dirty="0"/>
          </a:p>
          <a:p>
            <a:pPr marL="0" indent="0">
              <a:buNone/>
            </a:pPr>
            <a:endParaRPr lang="en-US" sz="2000" dirty="0"/>
          </a:p>
          <a:p>
            <a:pPr marL="0" indent="0">
              <a:buNone/>
            </a:pPr>
            <a:endParaRPr lang="en-US" sz="2000" dirty="0"/>
          </a:p>
          <a:p>
            <a:pPr marL="0" indent="0">
              <a:buNone/>
            </a:pPr>
            <a:r>
              <a:rPr lang="en-US" dirty="0"/>
              <a:t> </a:t>
            </a:r>
            <a:endParaRPr lang="en-IN" dirty="0"/>
          </a:p>
        </p:txBody>
      </p:sp>
      <p:sp>
        <p:nvSpPr>
          <p:cNvPr id="6" name="TextBox 5">
            <a:extLst>
              <a:ext uri="{FF2B5EF4-FFF2-40B4-BE49-F238E27FC236}">
                <a16:creationId xmlns:a16="http://schemas.microsoft.com/office/drawing/2014/main" id="{342DA039-9EA9-0043-D69F-87FA72D5A814}"/>
              </a:ext>
            </a:extLst>
          </p:cNvPr>
          <p:cNvSpPr txBox="1"/>
          <p:nvPr/>
        </p:nvSpPr>
        <p:spPr>
          <a:xfrm>
            <a:off x="3796557" y="2272386"/>
            <a:ext cx="5231876" cy="2862322"/>
          </a:xfrm>
          <a:prstGeom prst="rect">
            <a:avLst/>
          </a:prstGeom>
          <a:noFill/>
        </p:spPr>
        <p:txBody>
          <a:bodyPr wrap="square" rtlCol="0">
            <a:spAutoFit/>
          </a:bodyPr>
          <a:lstStyle/>
          <a:p>
            <a:r>
              <a:rPr lang="en-US" sz="1800" dirty="0"/>
              <a:t>Number of epochs = 15</a:t>
            </a:r>
          </a:p>
          <a:p>
            <a:endParaRPr lang="en-US" sz="1800" dirty="0"/>
          </a:p>
          <a:p>
            <a:r>
              <a:rPr lang="en-US" sz="1800" dirty="0"/>
              <a:t>Learning rate = 0.001</a:t>
            </a:r>
          </a:p>
          <a:p>
            <a:endParaRPr lang="en-US" sz="1800" dirty="0"/>
          </a:p>
          <a:p>
            <a:r>
              <a:rPr lang="en-US" sz="1800" dirty="0" err="1"/>
              <a:t>Optimiser</a:t>
            </a:r>
            <a:r>
              <a:rPr lang="en-US" sz="1800" dirty="0"/>
              <a:t> = SGD</a:t>
            </a:r>
          </a:p>
          <a:p>
            <a:endParaRPr lang="en-US" sz="1800" dirty="0"/>
          </a:p>
          <a:p>
            <a:r>
              <a:rPr lang="en-US" sz="1800" dirty="0"/>
              <a:t>Loss = Cross entropy loss </a:t>
            </a:r>
          </a:p>
          <a:p>
            <a:endParaRPr lang="en-US" sz="1800" dirty="0"/>
          </a:p>
          <a:p>
            <a:r>
              <a:rPr lang="en-US" sz="1800" dirty="0"/>
              <a:t>Accuracy=96.67%  </a:t>
            </a:r>
          </a:p>
          <a:p>
            <a:pPr marL="0" indent="0">
              <a:buNone/>
            </a:pPr>
            <a:endParaRPr lang="en-IN" sz="1800" dirty="0"/>
          </a:p>
        </p:txBody>
      </p:sp>
      <p:pic>
        <p:nvPicPr>
          <p:cNvPr id="9" name="Picture 8">
            <a:extLst>
              <a:ext uri="{FF2B5EF4-FFF2-40B4-BE49-F238E27FC236}">
                <a16:creationId xmlns:a16="http://schemas.microsoft.com/office/drawing/2014/main" id="{D8CB9F6D-2C15-7155-BDEA-4EDE977E8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4170" y="5047747"/>
            <a:ext cx="7168333" cy="1307008"/>
          </a:xfrm>
          <a:prstGeom prst="rect">
            <a:avLst/>
          </a:prstGeom>
        </p:spPr>
      </p:pic>
      <p:sp>
        <p:nvSpPr>
          <p:cNvPr id="11" name="TextBox 10">
            <a:extLst>
              <a:ext uri="{FF2B5EF4-FFF2-40B4-BE49-F238E27FC236}">
                <a16:creationId xmlns:a16="http://schemas.microsoft.com/office/drawing/2014/main" id="{9BFD3D92-E784-0148-6008-E8E3F153978B}"/>
              </a:ext>
            </a:extLst>
          </p:cNvPr>
          <p:cNvSpPr txBox="1"/>
          <p:nvPr/>
        </p:nvSpPr>
        <p:spPr>
          <a:xfrm>
            <a:off x="7595397" y="2367405"/>
            <a:ext cx="3134212" cy="2585323"/>
          </a:xfrm>
          <a:prstGeom prst="rect">
            <a:avLst/>
          </a:prstGeom>
          <a:noFill/>
        </p:spPr>
        <p:txBody>
          <a:bodyPr wrap="square" rtlCol="0">
            <a:spAutoFit/>
          </a:bodyPr>
          <a:lstStyle/>
          <a:p>
            <a:r>
              <a:rPr lang="en-US" sz="1800" dirty="0"/>
              <a:t>Number of epochs = 10</a:t>
            </a:r>
          </a:p>
          <a:p>
            <a:endParaRPr lang="en-US" sz="1800" dirty="0"/>
          </a:p>
          <a:p>
            <a:r>
              <a:rPr lang="en-US" sz="1800" dirty="0"/>
              <a:t>Learning rate = 0.001</a:t>
            </a:r>
          </a:p>
          <a:p>
            <a:endParaRPr lang="en-US" sz="1800" dirty="0"/>
          </a:p>
          <a:p>
            <a:r>
              <a:rPr lang="en-US" sz="1800" dirty="0" err="1"/>
              <a:t>Optimiser</a:t>
            </a:r>
            <a:r>
              <a:rPr lang="en-US" sz="1800" dirty="0"/>
              <a:t> = SGD</a:t>
            </a:r>
          </a:p>
          <a:p>
            <a:endParaRPr lang="en-US" sz="1800" dirty="0"/>
          </a:p>
          <a:p>
            <a:r>
              <a:rPr lang="en-US" sz="1800" dirty="0"/>
              <a:t>Loss = Cross entropy loss</a:t>
            </a:r>
          </a:p>
          <a:p>
            <a:r>
              <a:rPr lang="en-US" sz="1800" dirty="0"/>
              <a:t> </a:t>
            </a:r>
          </a:p>
          <a:p>
            <a:r>
              <a:rPr lang="en-US" sz="1800" dirty="0"/>
              <a:t>Accuracy=96.33%  </a:t>
            </a:r>
          </a:p>
        </p:txBody>
      </p:sp>
      <p:sp>
        <p:nvSpPr>
          <p:cNvPr id="4" name="TextBox 3">
            <a:extLst>
              <a:ext uri="{FF2B5EF4-FFF2-40B4-BE49-F238E27FC236}">
                <a16:creationId xmlns:a16="http://schemas.microsoft.com/office/drawing/2014/main" id="{5FF846F9-7C8B-45A0-44E5-4ABCCCF6A1B9}"/>
              </a:ext>
            </a:extLst>
          </p:cNvPr>
          <p:cNvSpPr txBox="1"/>
          <p:nvPr/>
        </p:nvSpPr>
        <p:spPr>
          <a:xfrm>
            <a:off x="337410" y="2212615"/>
            <a:ext cx="3695307" cy="2531462"/>
          </a:xfrm>
          <a:prstGeom prst="rect">
            <a:avLst/>
          </a:prstGeom>
          <a:noFill/>
        </p:spPr>
        <p:txBody>
          <a:bodyPr wrap="square" rtlCol="0">
            <a:spAutoFit/>
          </a:bodyPr>
          <a:lstStyle/>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0" u="none" strike="noStrike" kern="1200" cap="none" spc="10" normalizeH="0" baseline="0" noProof="0" dirty="0">
                <a:ln>
                  <a:noFill/>
                </a:ln>
                <a:solidFill>
                  <a:srgbClr val="000000"/>
                </a:solidFill>
                <a:effectLst/>
                <a:uLnTx/>
                <a:uFillTx/>
                <a:latin typeface="Century Schoolbook" panose="02040604050505020304"/>
                <a:ea typeface="+mn-ea"/>
                <a:cs typeface="+mn-cs"/>
              </a:rPr>
              <a:t>Number of epochs = 25</a:t>
            </a:r>
          </a:p>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0" u="none" strike="noStrike" kern="1200" cap="none" spc="10" normalizeH="0" baseline="0" noProof="0" dirty="0">
                <a:ln>
                  <a:noFill/>
                </a:ln>
                <a:solidFill>
                  <a:srgbClr val="000000"/>
                </a:solidFill>
                <a:effectLst/>
                <a:uLnTx/>
                <a:uFillTx/>
                <a:latin typeface="Century Schoolbook" panose="02040604050505020304"/>
                <a:ea typeface="+mn-ea"/>
                <a:cs typeface="+mn-cs"/>
              </a:rPr>
              <a:t>Learning rate = 0.001</a:t>
            </a:r>
          </a:p>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0" u="none" strike="noStrike" kern="1200" cap="none" spc="10" normalizeH="0" baseline="0" noProof="0" dirty="0" err="1">
                <a:ln>
                  <a:noFill/>
                </a:ln>
                <a:solidFill>
                  <a:srgbClr val="000000"/>
                </a:solidFill>
                <a:effectLst/>
                <a:uLnTx/>
                <a:uFillTx/>
                <a:latin typeface="Century Schoolbook" panose="02040604050505020304"/>
                <a:ea typeface="+mn-ea"/>
                <a:cs typeface="+mn-cs"/>
              </a:rPr>
              <a:t>Optimiser</a:t>
            </a:r>
            <a:r>
              <a:rPr kumimoji="0" lang="en-US" sz="1800" b="0" i="0" u="none" strike="noStrike" kern="1200" cap="none" spc="10" normalizeH="0" baseline="0" noProof="0" dirty="0">
                <a:ln>
                  <a:noFill/>
                </a:ln>
                <a:solidFill>
                  <a:srgbClr val="000000"/>
                </a:solidFill>
                <a:effectLst/>
                <a:uLnTx/>
                <a:uFillTx/>
                <a:latin typeface="Century Schoolbook" panose="02040604050505020304"/>
                <a:ea typeface="+mn-ea"/>
                <a:cs typeface="+mn-cs"/>
              </a:rPr>
              <a:t> = SGD</a:t>
            </a:r>
          </a:p>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0" u="none" strike="noStrike" kern="1200" cap="none" spc="10" normalizeH="0" baseline="0" noProof="0" dirty="0">
                <a:ln>
                  <a:noFill/>
                </a:ln>
                <a:solidFill>
                  <a:srgbClr val="000000"/>
                </a:solidFill>
                <a:effectLst/>
                <a:uLnTx/>
                <a:uFillTx/>
                <a:latin typeface="Century Schoolbook" panose="02040604050505020304"/>
                <a:ea typeface="+mn-ea"/>
                <a:cs typeface="+mn-cs"/>
              </a:rPr>
              <a:t>Loss = Cross entropy loss</a:t>
            </a:r>
          </a:p>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0" u="none" strike="noStrike" kern="1200" cap="none" spc="10" normalizeH="0" baseline="0" noProof="0" dirty="0">
                <a:ln>
                  <a:noFill/>
                </a:ln>
                <a:solidFill>
                  <a:srgbClr val="000000"/>
                </a:solidFill>
                <a:effectLst/>
                <a:uLnTx/>
                <a:uFillTx/>
                <a:latin typeface="Century Schoolbook" panose="02040604050505020304"/>
                <a:ea typeface="+mn-ea"/>
                <a:cs typeface="+mn-cs"/>
              </a:rPr>
              <a:t> Accuracy=98%  </a:t>
            </a:r>
          </a:p>
          <a:p>
            <a:endParaRPr lang="en-IN" dirty="0"/>
          </a:p>
        </p:txBody>
      </p:sp>
    </p:spTree>
    <p:extLst>
      <p:ext uri="{BB962C8B-B14F-4D97-AF65-F5344CB8AC3E}">
        <p14:creationId xmlns:p14="http://schemas.microsoft.com/office/powerpoint/2010/main" val="2960446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D3BC7F-F18A-2C19-D7AA-B6F037AB74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359" y="3145135"/>
            <a:ext cx="4226129" cy="2898247"/>
          </a:xfrm>
        </p:spPr>
      </p:pic>
      <p:sp>
        <p:nvSpPr>
          <p:cNvPr id="2" name="TextBox 1">
            <a:extLst>
              <a:ext uri="{FF2B5EF4-FFF2-40B4-BE49-F238E27FC236}">
                <a16:creationId xmlns:a16="http://schemas.microsoft.com/office/drawing/2014/main" id="{6CDC2CC4-CE6D-3F29-0B83-3AE5B5B38598}"/>
              </a:ext>
            </a:extLst>
          </p:cNvPr>
          <p:cNvSpPr txBox="1"/>
          <p:nvPr/>
        </p:nvSpPr>
        <p:spPr>
          <a:xfrm>
            <a:off x="749029" y="233463"/>
            <a:ext cx="9854119" cy="984885"/>
          </a:xfrm>
          <a:prstGeom prst="rect">
            <a:avLst/>
          </a:prstGeom>
          <a:noFill/>
        </p:spPr>
        <p:txBody>
          <a:bodyPr wrap="square" rtlCol="0">
            <a:spAutoFit/>
          </a:bodyPr>
          <a:lstStyle/>
          <a:p>
            <a:r>
              <a:rPr lang="en-US" sz="2000" b="1" dirty="0"/>
              <a:t>We have performed training for number of epochs= 10 </a:t>
            </a:r>
            <a:r>
              <a:rPr lang="en-US" sz="2000" dirty="0"/>
              <a:t>where we have plotted confusion matrix and curve for train and test against epochs.</a:t>
            </a:r>
            <a:endParaRPr lang="en-IN" sz="2000" dirty="0"/>
          </a:p>
          <a:p>
            <a:endParaRPr lang="en-IN" dirty="0"/>
          </a:p>
        </p:txBody>
      </p:sp>
      <p:pic>
        <p:nvPicPr>
          <p:cNvPr id="4" name="Picture 3">
            <a:extLst>
              <a:ext uri="{FF2B5EF4-FFF2-40B4-BE49-F238E27FC236}">
                <a16:creationId xmlns:a16="http://schemas.microsoft.com/office/drawing/2014/main" id="{7C6C6F6C-333B-4ECA-A13F-A22532F82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9452" y="2461733"/>
            <a:ext cx="7692548" cy="4009405"/>
          </a:xfrm>
          <a:prstGeom prst="rect">
            <a:avLst/>
          </a:prstGeom>
        </p:spPr>
      </p:pic>
    </p:spTree>
    <p:extLst>
      <p:ext uri="{BB962C8B-B14F-4D97-AF65-F5344CB8AC3E}">
        <p14:creationId xmlns:p14="http://schemas.microsoft.com/office/powerpoint/2010/main" val="961693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0AD3-E475-35C7-B174-B096CA4151BC}"/>
              </a:ext>
            </a:extLst>
          </p:cNvPr>
          <p:cNvSpPr>
            <a:spLocks noGrp="1"/>
          </p:cNvSpPr>
          <p:nvPr>
            <p:ph type="title"/>
          </p:nvPr>
        </p:nvSpPr>
        <p:spPr>
          <a:xfrm>
            <a:off x="713232" y="-222884"/>
            <a:ext cx="9692640" cy="1325562"/>
          </a:xfrm>
        </p:spPr>
        <p:txBody>
          <a:bodyPr/>
          <a:lstStyle/>
          <a:p>
            <a:r>
              <a:rPr lang="en-US" dirty="0"/>
              <a:t>For vgg16 </a:t>
            </a:r>
            <a:endParaRPr lang="en-IN" dirty="0"/>
          </a:p>
        </p:txBody>
      </p:sp>
      <p:sp>
        <p:nvSpPr>
          <p:cNvPr id="3" name="Content Placeholder 2">
            <a:extLst>
              <a:ext uri="{FF2B5EF4-FFF2-40B4-BE49-F238E27FC236}">
                <a16:creationId xmlns:a16="http://schemas.microsoft.com/office/drawing/2014/main" id="{6E5B1AA0-F189-13F4-7565-D9CC39840CFD}"/>
              </a:ext>
            </a:extLst>
          </p:cNvPr>
          <p:cNvSpPr>
            <a:spLocks noGrp="1"/>
          </p:cNvSpPr>
          <p:nvPr>
            <p:ph idx="1"/>
          </p:nvPr>
        </p:nvSpPr>
        <p:spPr>
          <a:xfrm>
            <a:off x="406400" y="1244918"/>
            <a:ext cx="9064752" cy="4686617"/>
          </a:xfrm>
        </p:spPr>
        <p:txBody>
          <a:bodyPr/>
          <a:lstStyle/>
          <a:p>
            <a:pPr marL="0" indent="0">
              <a:buNone/>
            </a:pPr>
            <a:r>
              <a:rPr lang="en-US" dirty="0"/>
              <a:t> first we tried with 5 epochs in vgg16 then we tried with 10 </a:t>
            </a:r>
            <a:r>
              <a:rPr lang="en-US" dirty="0" err="1"/>
              <a:t>epochs.These</a:t>
            </a:r>
            <a:r>
              <a:rPr lang="en-US" dirty="0"/>
              <a:t> are the results for 5 epochs.</a:t>
            </a:r>
          </a:p>
          <a:p>
            <a:pPr marL="0" indent="0">
              <a:buNone/>
            </a:pPr>
            <a:endParaRPr lang="en-IN" dirty="0"/>
          </a:p>
        </p:txBody>
      </p:sp>
      <p:pic>
        <p:nvPicPr>
          <p:cNvPr id="5" name="Picture 4">
            <a:extLst>
              <a:ext uri="{FF2B5EF4-FFF2-40B4-BE49-F238E27FC236}">
                <a16:creationId xmlns:a16="http://schemas.microsoft.com/office/drawing/2014/main" id="{4492CB2F-A204-3DD9-6666-4AD3662BA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6720" y="1635760"/>
            <a:ext cx="8440195" cy="5222240"/>
          </a:xfrm>
          <a:prstGeom prst="rect">
            <a:avLst/>
          </a:prstGeom>
        </p:spPr>
      </p:pic>
    </p:spTree>
    <p:extLst>
      <p:ext uri="{BB962C8B-B14F-4D97-AF65-F5344CB8AC3E}">
        <p14:creationId xmlns:p14="http://schemas.microsoft.com/office/powerpoint/2010/main" val="18573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A4CF9-C760-526C-D869-B7CE2F271262}"/>
              </a:ext>
            </a:extLst>
          </p:cNvPr>
          <p:cNvSpPr>
            <a:spLocks noGrp="1"/>
          </p:cNvSpPr>
          <p:nvPr>
            <p:ph type="title"/>
          </p:nvPr>
        </p:nvSpPr>
        <p:spPr>
          <a:xfrm>
            <a:off x="204282" y="114753"/>
            <a:ext cx="10924160" cy="2329437"/>
          </a:xfrm>
        </p:spPr>
        <p:txBody>
          <a:bodyPr>
            <a:normAutofit fontScale="90000"/>
          </a:bodyPr>
          <a:lstStyle/>
          <a:p>
            <a:pPr marL="0" indent="0"/>
            <a:r>
              <a:rPr lang="en-US" sz="4000" dirty="0">
                <a:latin typeface="+mn-lt"/>
              </a:rPr>
              <a:t>For </a:t>
            </a:r>
            <a:r>
              <a:rPr lang="en-US" sz="4000" dirty="0" err="1">
                <a:latin typeface="+mn-lt"/>
              </a:rPr>
              <a:t>vgg</a:t>
            </a:r>
            <a:r>
              <a:rPr lang="en-US" sz="4000" dirty="0">
                <a:latin typeface="+mn-lt"/>
              </a:rPr>
              <a:t> 16 </a:t>
            </a:r>
            <a:br>
              <a:rPr lang="en-US" sz="4000" dirty="0">
                <a:latin typeface="+mn-lt"/>
              </a:rPr>
            </a:br>
            <a:br>
              <a:rPr lang="en-US" sz="2200" dirty="0">
                <a:latin typeface="+mn-lt"/>
              </a:rPr>
            </a:br>
            <a:r>
              <a:rPr lang="en-US" sz="1800" dirty="0">
                <a:latin typeface="+mn-lt"/>
              </a:rPr>
              <a:t>Number of epochs = 10</a:t>
            </a:r>
            <a:br>
              <a:rPr lang="en-US" sz="1800" dirty="0">
                <a:latin typeface="+mn-lt"/>
              </a:rPr>
            </a:br>
            <a:r>
              <a:rPr lang="en-US" sz="1800" dirty="0">
                <a:latin typeface="+mn-lt"/>
              </a:rPr>
              <a:t>Learning rate = 0.01</a:t>
            </a:r>
            <a:br>
              <a:rPr lang="en-US" sz="1800" dirty="0">
                <a:latin typeface="+mn-lt"/>
              </a:rPr>
            </a:br>
            <a:r>
              <a:rPr lang="en-US" sz="1800" dirty="0" err="1">
                <a:latin typeface="+mn-lt"/>
              </a:rPr>
              <a:t>Optimiser</a:t>
            </a:r>
            <a:r>
              <a:rPr lang="en-US" sz="1800" dirty="0">
                <a:latin typeface="+mn-lt"/>
              </a:rPr>
              <a:t> = SGD</a:t>
            </a:r>
            <a:br>
              <a:rPr lang="en-US" sz="1800" dirty="0">
                <a:latin typeface="+mn-lt"/>
              </a:rPr>
            </a:br>
            <a:r>
              <a:rPr lang="en-US" sz="1800" dirty="0">
                <a:latin typeface="+mn-lt"/>
              </a:rPr>
              <a:t>Loss = Cross entropy loss</a:t>
            </a:r>
            <a:br>
              <a:rPr lang="en-US" sz="1800" dirty="0">
                <a:latin typeface="+mn-lt"/>
              </a:rPr>
            </a:br>
            <a:r>
              <a:rPr lang="en-US" sz="1800" dirty="0">
                <a:latin typeface="+mn-lt"/>
              </a:rPr>
              <a:t>Accuracy= 95.33</a:t>
            </a:r>
            <a:br>
              <a:rPr lang="en-IN" sz="2000" dirty="0">
                <a:latin typeface="+mn-lt"/>
              </a:rPr>
            </a:br>
            <a:endParaRPr lang="en-IN" sz="2000" dirty="0">
              <a:latin typeface="+mn-lt"/>
            </a:endParaRPr>
          </a:p>
        </p:txBody>
      </p:sp>
      <p:sp>
        <p:nvSpPr>
          <p:cNvPr id="3" name="Content Placeholder 2">
            <a:extLst>
              <a:ext uri="{FF2B5EF4-FFF2-40B4-BE49-F238E27FC236}">
                <a16:creationId xmlns:a16="http://schemas.microsoft.com/office/drawing/2014/main" id="{D6440CBF-9983-D46E-53AA-543B89727E68}"/>
              </a:ext>
            </a:extLst>
          </p:cNvPr>
          <p:cNvSpPr>
            <a:spLocks noGrp="1"/>
          </p:cNvSpPr>
          <p:nvPr>
            <p:ph idx="1"/>
          </p:nvPr>
        </p:nvSpPr>
        <p:spPr/>
        <p:txBody>
          <a:bodyPr>
            <a:normAutofit/>
          </a:bodyPr>
          <a:lstStyle/>
          <a:p>
            <a:pPr marL="0" indent="0">
              <a:buNone/>
            </a:pPr>
            <a:endParaRPr lang="en-US" sz="2000" dirty="0"/>
          </a:p>
          <a:p>
            <a:pPr marL="0" indent="0">
              <a:buNone/>
            </a:pPr>
            <a:r>
              <a:rPr lang="en-US" sz="2400" dirty="0"/>
              <a:t> </a:t>
            </a:r>
            <a:endParaRPr lang="en-IN" sz="2400" dirty="0"/>
          </a:p>
        </p:txBody>
      </p:sp>
      <p:pic>
        <p:nvPicPr>
          <p:cNvPr id="5" name="Picture 4">
            <a:extLst>
              <a:ext uri="{FF2B5EF4-FFF2-40B4-BE49-F238E27FC236}">
                <a16:creationId xmlns:a16="http://schemas.microsoft.com/office/drawing/2014/main" id="{DC9AC09A-D028-877D-D061-D8D427BFFA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89" y="3393576"/>
            <a:ext cx="4477157" cy="3402497"/>
          </a:xfrm>
          <a:prstGeom prst="rect">
            <a:avLst/>
          </a:prstGeom>
        </p:spPr>
      </p:pic>
      <p:pic>
        <p:nvPicPr>
          <p:cNvPr id="6" name="Picture 5">
            <a:extLst>
              <a:ext uri="{FF2B5EF4-FFF2-40B4-BE49-F238E27FC236}">
                <a16:creationId xmlns:a16="http://schemas.microsoft.com/office/drawing/2014/main" id="{432A501F-6D82-A8BA-300E-48782E1B89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4022" y="564023"/>
            <a:ext cx="7903696" cy="4212819"/>
          </a:xfrm>
          <a:prstGeom prst="rect">
            <a:avLst/>
          </a:prstGeom>
        </p:spPr>
      </p:pic>
    </p:spTree>
    <p:extLst>
      <p:ext uri="{BB962C8B-B14F-4D97-AF65-F5344CB8AC3E}">
        <p14:creationId xmlns:p14="http://schemas.microsoft.com/office/powerpoint/2010/main" val="288711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3DBDA-7586-D43D-C29F-2D4084498DAB}"/>
              </a:ext>
            </a:extLst>
          </p:cNvPr>
          <p:cNvSpPr>
            <a:spLocks noGrp="1"/>
          </p:cNvSpPr>
          <p:nvPr>
            <p:ph type="title"/>
          </p:nvPr>
        </p:nvSpPr>
        <p:spPr>
          <a:xfrm>
            <a:off x="687940" y="282453"/>
            <a:ext cx="9692640" cy="889108"/>
          </a:xfrm>
        </p:spPr>
        <p:txBody>
          <a:bodyPr/>
          <a:lstStyle/>
          <a:p>
            <a:r>
              <a:rPr lang="en-US" dirty="0"/>
              <a:t>  </a:t>
            </a:r>
            <a:endParaRPr lang="en-IN" dirty="0"/>
          </a:p>
        </p:txBody>
      </p:sp>
      <p:sp>
        <p:nvSpPr>
          <p:cNvPr id="3" name="Content Placeholder 2">
            <a:extLst>
              <a:ext uri="{FF2B5EF4-FFF2-40B4-BE49-F238E27FC236}">
                <a16:creationId xmlns:a16="http://schemas.microsoft.com/office/drawing/2014/main" id="{4B95805C-E506-BACF-9EFA-17098FBAAF20}"/>
              </a:ext>
            </a:extLst>
          </p:cNvPr>
          <p:cNvSpPr>
            <a:spLocks noGrp="1"/>
          </p:cNvSpPr>
          <p:nvPr>
            <p:ph idx="1"/>
          </p:nvPr>
        </p:nvSpPr>
        <p:spPr>
          <a:xfrm>
            <a:off x="687940" y="1361872"/>
            <a:ext cx="8595360" cy="4351337"/>
          </a:xfrm>
        </p:spPr>
        <p:txBody>
          <a:bodyPr/>
          <a:lstStyle/>
          <a:p>
            <a:pPr marL="0" indent="0">
              <a:buNone/>
            </a:pPr>
            <a:r>
              <a:rPr lang="en-US" dirty="0"/>
              <a:t>We encountered challenges while attempting to use grid search to find the optimal parameters for our ResNet-50 model, especially when training for more than 25 epochs. Unfortunately, we faced runtime errors in Google </a:t>
            </a:r>
            <a:r>
              <a:rPr lang="en-US" dirty="0" err="1"/>
              <a:t>Colab</a:t>
            </a:r>
            <a:r>
              <a:rPr lang="en-US" dirty="0"/>
              <a:t> notebooks, which hindered our progress</a:t>
            </a:r>
          </a:p>
          <a:p>
            <a:pPr marL="0" indent="0">
              <a:buNone/>
            </a:pPr>
            <a:endParaRPr lang="en-IN" dirty="0"/>
          </a:p>
        </p:txBody>
      </p:sp>
      <p:pic>
        <p:nvPicPr>
          <p:cNvPr id="5" name="Picture 4">
            <a:extLst>
              <a:ext uri="{FF2B5EF4-FFF2-40B4-BE49-F238E27FC236}">
                <a16:creationId xmlns:a16="http://schemas.microsoft.com/office/drawing/2014/main" id="{5981574B-C90A-49CA-BAEB-ECA660B458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565" y="2427503"/>
            <a:ext cx="10227013" cy="4430497"/>
          </a:xfrm>
          <a:prstGeom prst="rect">
            <a:avLst/>
          </a:prstGeom>
        </p:spPr>
      </p:pic>
      <p:sp>
        <p:nvSpPr>
          <p:cNvPr id="6" name="TextBox 5">
            <a:extLst>
              <a:ext uri="{FF2B5EF4-FFF2-40B4-BE49-F238E27FC236}">
                <a16:creationId xmlns:a16="http://schemas.microsoft.com/office/drawing/2014/main" id="{02A68935-3512-32DB-7268-263909D48222}"/>
              </a:ext>
            </a:extLst>
          </p:cNvPr>
          <p:cNvSpPr txBox="1"/>
          <p:nvPr/>
        </p:nvSpPr>
        <p:spPr>
          <a:xfrm>
            <a:off x="687940" y="282453"/>
            <a:ext cx="8738162" cy="1200329"/>
          </a:xfrm>
          <a:prstGeom prst="rect">
            <a:avLst/>
          </a:prstGeom>
          <a:noFill/>
        </p:spPr>
        <p:txBody>
          <a:bodyPr wrap="square" rtlCol="0">
            <a:spAutoFit/>
          </a:bodyPr>
          <a:lstStyle/>
          <a:p>
            <a:r>
              <a:rPr lang="en-US" sz="3600" dirty="0"/>
              <a:t>Challenges faced </a:t>
            </a:r>
          </a:p>
          <a:p>
            <a:endParaRPr lang="en-US" dirty="0"/>
          </a:p>
          <a:p>
            <a:r>
              <a:rPr lang="en-US" dirty="0"/>
              <a:t>1. Grid search</a:t>
            </a:r>
            <a:endParaRPr lang="en-IN" dirty="0"/>
          </a:p>
        </p:txBody>
      </p:sp>
    </p:spTree>
    <p:extLst>
      <p:ext uri="{BB962C8B-B14F-4D97-AF65-F5344CB8AC3E}">
        <p14:creationId xmlns:p14="http://schemas.microsoft.com/office/powerpoint/2010/main" val="804823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9B6FD-3F83-6503-CD37-E13FBF314459}"/>
              </a:ext>
            </a:extLst>
          </p:cNvPr>
          <p:cNvSpPr>
            <a:spLocks noGrp="1"/>
          </p:cNvSpPr>
          <p:nvPr>
            <p:ph idx="1"/>
          </p:nvPr>
        </p:nvSpPr>
        <p:spPr>
          <a:xfrm>
            <a:off x="515566" y="379380"/>
            <a:ext cx="9341666" cy="5800758"/>
          </a:xfrm>
        </p:spPr>
        <p:txBody>
          <a:bodyPr/>
          <a:lstStyle/>
          <a:p>
            <a:pPr marL="0" indent="0">
              <a:buNone/>
            </a:pPr>
            <a:r>
              <a:rPr lang="en-US" dirty="0"/>
              <a:t>2.We have tried fine tuning our renet50 by updating the weights of all the fully connected layer and freezing the rest . However this code also showed runtime exceeded for 25 epochs . </a:t>
            </a:r>
            <a:endParaRPr lang="en-IN" dirty="0"/>
          </a:p>
        </p:txBody>
      </p:sp>
      <p:pic>
        <p:nvPicPr>
          <p:cNvPr id="5" name="Picture 4">
            <a:extLst>
              <a:ext uri="{FF2B5EF4-FFF2-40B4-BE49-F238E27FC236}">
                <a16:creationId xmlns:a16="http://schemas.microsoft.com/office/drawing/2014/main" id="{B6BC1D06-2690-B7A5-EBCE-6F6368E6C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96" y="1324447"/>
            <a:ext cx="7628281" cy="5006774"/>
          </a:xfrm>
          <a:prstGeom prst="rect">
            <a:avLst/>
          </a:prstGeom>
        </p:spPr>
      </p:pic>
      <p:pic>
        <p:nvPicPr>
          <p:cNvPr id="7" name="Picture 6">
            <a:extLst>
              <a:ext uri="{FF2B5EF4-FFF2-40B4-BE49-F238E27FC236}">
                <a16:creationId xmlns:a16="http://schemas.microsoft.com/office/drawing/2014/main" id="{0D92A321-3564-A9BB-36CD-05276454E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4708" y="1324447"/>
            <a:ext cx="7057292" cy="5006774"/>
          </a:xfrm>
          <a:prstGeom prst="rect">
            <a:avLst/>
          </a:prstGeom>
        </p:spPr>
      </p:pic>
    </p:spTree>
    <p:extLst>
      <p:ext uri="{BB962C8B-B14F-4D97-AF65-F5344CB8AC3E}">
        <p14:creationId xmlns:p14="http://schemas.microsoft.com/office/powerpoint/2010/main" val="2696081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668BAB-6FEF-7895-1395-04FD6B0CA8C5}"/>
              </a:ext>
            </a:extLst>
          </p:cNvPr>
          <p:cNvSpPr>
            <a:spLocks noGrp="1"/>
          </p:cNvSpPr>
          <p:nvPr>
            <p:ph idx="1"/>
          </p:nvPr>
        </p:nvSpPr>
        <p:spPr>
          <a:xfrm>
            <a:off x="600391" y="535022"/>
            <a:ext cx="8595360" cy="4351337"/>
          </a:xfrm>
        </p:spPr>
        <p:txBody>
          <a:bodyPr/>
          <a:lstStyle/>
          <a:p>
            <a:pPr marL="0" indent="0">
              <a:buNone/>
            </a:pPr>
            <a:r>
              <a:rPr lang="en-US" dirty="0"/>
              <a:t>Furthermore, we encountered shape errors during matrix multiplication operations. These errors occurred when attempting to multiply matrices with incompatible dimensions, preventing successful computation.</a:t>
            </a:r>
          </a:p>
          <a:p>
            <a:pPr marL="0" indent="0">
              <a:buNone/>
            </a:pPr>
            <a:endParaRPr lang="en-US" dirty="0"/>
          </a:p>
          <a:p>
            <a:endParaRPr lang="en-IN" dirty="0"/>
          </a:p>
        </p:txBody>
      </p:sp>
    </p:spTree>
    <p:extLst>
      <p:ext uri="{BB962C8B-B14F-4D97-AF65-F5344CB8AC3E}">
        <p14:creationId xmlns:p14="http://schemas.microsoft.com/office/powerpoint/2010/main" val="1276716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1CBE2-F94F-04AB-EAD8-C44083DCF65F}"/>
              </a:ext>
            </a:extLst>
          </p:cNvPr>
          <p:cNvSpPr>
            <a:spLocks noGrp="1"/>
          </p:cNvSpPr>
          <p:nvPr>
            <p:ph type="title"/>
          </p:nvPr>
        </p:nvSpPr>
        <p:spPr/>
        <p:txBody>
          <a:bodyPr/>
          <a:lstStyle/>
          <a:p>
            <a:r>
              <a:rPr lang="en-US" dirty="0"/>
              <a:t>YOLOv9 : Introduction</a:t>
            </a:r>
          </a:p>
        </p:txBody>
      </p:sp>
      <p:sp>
        <p:nvSpPr>
          <p:cNvPr id="3" name="Content Placeholder 2">
            <a:extLst>
              <a:ext uri="{FF2B5EF4-FFF2-40B4-BE49-F238E27FC236}">
                <a16:creationId xmlns:a16="http://schemas.microsoft.com/office/drawing/2014/main" id="{D49FC4A2-57BB-40B8-E479-CE95BAA69D5B}"/>
              </a:ext>
            </a:extLst>
          </p:cNvPr>
          <p:cNvSpPr>
            <a:spLocks noGrp="1"/>
          </p:cNvSpPr>
          <p:nvPr>
            <p:ph idx="1"/>
          </p:nvPr>
        </p:nvSpPr>
        <p:spPr/>
        <p:txBody>
          <a:bodyPr>
            <a:normAutofit/>
          </a:bodyPr>
          <a:lstStyle/>
          <a:p>
            <a:r>
              <a:rPr lang="en-US" dirty="0"/>
              <a:t>YOLOv9 is the latest installment in the YOLO (You Only Look Once) series, released in February 2024. It is probably the most accurate model right now in object detection with proper dataset of it’s kind. </a:t>
            </a:r>
          </a:p>
          <a:p>
            <a:r>
              <a:rPr lang="en-US" dirty="0"/>
              <a:t>Existing methods ignore a fact that when input data undergoes layer-by-layer feature extraction and spatial transformation, large amount of information will be lost(Information bottleneck).</a:t>
            </a:r>
          </a:p>
          <a:p>
            <a:r>
              <a:rPr lang="en-US" dirty="0"/>
              <a:t>It uses the concept of programmable gradient information (PGI) to cope with the various changes required by deep networks to achieve multiple objectives and, a new lightweight network architecture – Generalized Efficient Layer Aggregation Network (GELAN).</a:t>
            </a:r>
          </a:p>
          <a:p>
            <a:endParaRPr lang="en-US" dirty="0"/>
          </a:p>
          <a:p>
            <a:endParaRPr lang="en-US" dirty="0"/>
          </a:p>
        </p:txBody>
      </p:sp>
    </p:spTree>
    <p:extLst>
      <p:ext uri="{BB962C8B-B14F-4D97-AF65-F5344CB8AC3E}">
        <p14:creationId xmlns:p14="http://schemas.microsoft.com/office/powerpoint/2010/main" val="723378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F46F-7C71-9078-3B89-3A96F97692B9}"/>
              </a:ext>
            </a:extLst>
          </p:cNvPr>
          <p:cNvSpPr>
            <a:spLocks noGrp="1"/>
          </p:cNvSpPr>
          <p:nvPr>
            <p:ph type="title"/>
          </p:nvPr>
        </p:nvSpPr>
        <p:spPr/>
        <p:txBody>
          <a:bodyPr/>
          <a:lstStyle/>
          <a:p>
            <a:r>
              <a:rPr lang="en-US" dirty="0"/>
              <a:t>Comparison with other models</a:t>
            </a:r>
          </a:p>
        </p:txBody>
      </p:sp>
      <p:sp>
        <p:nvSpPr>
          <p:cNvPr id="3" name="Content Placeholder 2">
            <a:extLst>
              <a:ext uri="{FF2B5EF4-FFF2-40B4-BE49-F238E27FC236}">
                <a16:creationId xmlns:a16="http://schemas.microsoft.com/office/drawing/2014/main" id="{E3403B97-39A9-40BD-2246-F2DF9405FDE2}"/>
              </a:ext>
            </a:extLst>
          </p:cNvPr>
          <p:cNvSpPr>
            <a:spLocks noGrp="1"/>
          </p:cNvSpPr>
          <p:nvPr>
            <p:ph idx="1"/>
          </p:nvPr>
        </p:nvSpPr>
        <p:spPr/>
        <p:txBody>
          <a:bodyPr>
            <a:normAutofit/>
          </a:bodyPr>
          <a:lstStyle/>
          <a:p>
            <a:r>
              <a:rPr lang="en-US" dirty="0"/>
              <a:t>The basic difference between YOLOv9 and Resnet50,VGG16 is the use of </a:t>
            </a:r>
            <a:r>
              <a:rPr lang="en-US" b="0" i="0" dirty="0">
                <a:solidFill>
                  <a:srgbClr val="1F1F1F"/>
                </a:solidFill>
                <a:effectLst/>
                <a:latin typeface="Google Sans"/>
              </a:rPr>
              <a:t>a complex architecture with innovations like Programmable Gradient Information (PGI) and Generalized Efficient Layer Aggregation Network (GELAN) to achieve high accuracy and efficiency.</a:t>
            </a:r>
          </a:p>
          <a:p>
            <a:r>
              <a:rPr lang="en-US" dirty="0">
                <a:solidFill>
                  <a:srgbClr val="1F1F1F"/>
                </a:solidFill>
                <a:latin typeface="Google Sans"/>
              </a:rPr>
              <a:t>While </a:t>
            </a:r>
            <a:r>
              <a:rPr lang="en-US" dirty="0" err="1">
                <a:solidFill>
                  <a:srgbClr val="1F1F1F"/>
                </a:solidFill>
                <a:latin typeface="Google Sans"/>
              </a:rPr>
              <a:t>resnet</a:t>
            </a:r>
            <a:r>
              <a:rPr lang="en-US" dirty="0">
                <a:solidFill>
                  <a:srgbClr val="1F1F1F"/>
                </a:solidFill>
                <a:latin typeface="Google Sans"/>
              </a:rPr>
              <a:t> </a:t>
            </a:r>
            <a:r>
              <a:rPr lang="en-US" b="0" i="0" dirty="0">
                <a:solidFill>
                  <a:srgbClr val="1F1F1F"/>
                </a:solidFill>
                <a:effectLst/>
                <a:latin typeface="Google Sans"/>
              </a:rPr>
              <a:t>Relies on residual connections, a technique that addresses vanishing gradients in deep neural networks, allowing for better training and performance. YOLOv9 has introduced the use of GELAN which is more concerned with </a:t>
            </a:r>
            <a:r>
              <a:rPr lang="en-US" dirty="0"/>
              <a:t>Information bottleneck as clear from the figure below</a:t>
            </a:r>
          </a:p>
        </p:txBody>
      </p:sp>
    </p:spTree>
    <p:extLst>
      <p:ext uri="{BB962C8B-B14F-4D97-AF65-F5344CB8AC3E}">
        <p14:creationId xmlns:p14="http://schemas.microsoft.com/office/powerpoint/2010/main" val="1131985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411C-96E9-6488-772E-AC72F039A452}"/>
              </a:ext>
            </a:extLst>
          </p:cNvPr>
          <p:cNvSpPr>
            <a:spLocks noGrp="1"/>
          </p:cNvSpPr>
          <p:nvPr>
            <p:ph type="title"/>
          </p:nvPr>
        </p:nvSpPr>
        <p:spPr/>
        <p:txBody>
          <a:bodyPr/>
          <a:lstStyle/>
          <a:p>
            <a:r>
              <a:rPr lang="en-US" dirty="0"/>
              <a:t>Comparison (contd.)</a:t>
            </a:r>
          </a:p>
        </p:txBody>
      </p:sp>
      <p:pic>
        <p:nvPicPr>
          <p:cNvPr id="5" name="Content Placeholder 4">
            <a:extLst>
              <a:ext uri="{FF2B5EF4-FFF2-40B4-BE49-F238E27FC236}">
                <a16:creationId xmlns:a16="http://schemas.microsoft.com/office/drawing/2014/main" id="{D8FE01B4-641B-179B-AC1B-8B59860D83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21357"/>
            <a:ext cx="11766215" cy="3215896"/>
          </a:xfrm>
        </p:spPr>
      </p:pic>
      <p:sp>
        <p:nvSpPr>
          <p:cNvPr id="7" name="TextBox 6">
            <a:extLst>
              <a:ext uri="{FF2B5EF4-FFF2-40B4-BE49-F238E27FC236}">
                <a16:creationId xmlns:a16="http://schemas.microsoft.com/office/drawing/2014/main" id="{4E497634-A39E-8837-6033-2DE11691810A}"/>
              </a:ext>
            </a:extLst>
          </p:cNvPr>
          <p:cNvSpPr txBox="1"/>
          <p:nvPr/>
        </p:nvSpPr>
        <p:spPr>
          <a:xfrm>
            <a:off x="8337452" y="4467921"/>
            <a:ext cx="3854548" cy="369332"/>
          </a:xfrm>
          <a:prstGeom prst="rect">
            <a:avLst/>
          </a:prstGeom>
          <a:noFill/>
        </p:spPr>
        <p:txBody>
          <a:bodyPr wrap="square" rtlCol="0">
            <a:spAutoFit/>
          </a:bodyPr>
          <a:lstStyle/>
          <a:p>
            <a:r>
              <a:rPr lang="en-US" dirty="0"/>
              <a:t>Source: YOLOv9 official paper </a:t>
            </a:r>
          </a:p>
        </p:txBody>
      </p:sp>
      <p:sp>
        <p:nvSpPr>
          <p:cNvPr id="8" name="TextBox 7">
            <a:extLst>
              <a:ext uri="{FF2B5EF4-FFF2-40B4-BE49-F238E27FC236}">
                <a16:creationId xmlns:a16="http://schemas.microsoft.com/office/drawing/2014/main" id="{3046B34D-9E48-2D2C-4057-CD0724E3EB2D}"/>
              </a:ext>
            </a:extLst>
          </p:cNvPr>
          <p:cNvSpPr txBox="1"/>
          <p:nvPr/>
        </p:nvSpPr>
        <p:spPr>
          <a:xfrm>
            <a:off x="703385" y="5008098"/>
            <a:ext cx="10199077" cy="954107"/>
          </a:xfrm>
          <a:prstGeom prst="rect">
            <a:avLst/>
          </a:prstGeom>
          <a:noFill/>
        </p:spPr>
        <p:txBody>
          <a:bodyPr wrap="square" rtlCol="0">
            <a:spAutoFit/>
          </a:bodyPr>
          <a:lstStyle/>
          <a:p>
            <a:r>
              <a:rPr lang="en-US" sz="2800" dirty="0"/>
              <a:t>With these fascinating features in mind we decided to train our dataset with YOLOv9. </a:t>
            </a:r>
          </a:p>
        </p:txBody>
      </p:sp>
    </p:spTree>
    <p:extLst>
      <p:ext uri="{BB962C8B-B14F-4D97-AF65-F5344CB8AC3E}">
        <p14:creationId xmlns:p14="http://schemas.microsoft.com/office/powerpoint/2010/main" val="3850450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43A46-0956-B764-A5F6-A8E9C9260D97}"/>
              </a:ext>
            </a:extLst>
          </p:cNvPr>
          <p:cNvSpPr>
            <a:spLocks noGrp="1"/>
          </p:cNvSpPr>
          <p:nvPr>
            <p:ph type="title"/>
          </p:nvPr>
        </p:nvSpPr>
        <p:spPr/>
        <p:txBody>
          <a:bodyPr/>
          <a:lstStyle/>
          <a:p>
            <a:r>
              <a:rPr lang="en-US" dirty="0"/>
              <a:t>Training model</a:t>
            </a:r>
          </a:p>
        </p:txBody>
      </p:sp>
      <p:sp>
        <p:nvSpPr>
          <p:cNvPr id="3" name="Content Placeholder 2">
            <a:extLst>
              <a:ext uri="{FF2B5EF4-FFF2-40B4-BE49-F238E27FC236}">
                <a16:creationId xmlns:a16="http://schemas.microsoft.com/office/drawing/2014/main" id="{0D9D43AF-9112-6BC9-7148-9007BA8CF7B8}"/>
              </a:ext>
            </a:extLst>
          </p:cNvPr>
          <p:cNvSpPr>
            <a:spLocks noGrp="1"/>
          </p:cNvSpPr>
          <p:nvPr>
            <p:ph idx="1"/>
          </p:nvPr>
        </p:nvSpPr>
        <p:spPr/>
        <p:txBody>
          <a:bodyPr/>
          <a:lstStyle/>
          <a:p>
            <a:r>
              <a:rPr lang="en-US" dirty="0"/>
              <a:t>The first task was to annotate our dataset according to YOLO labels. For This we used </a:t>
            </a:r>
            <a:r>
              <a:rPr lang="en-US" dirty="0" err="1"/>
              <a:t>Autodistill</a:t>
            </a:r>
            <a:r>
              <a:rPr lang="en-US" dirty="0"/>
              <a:t> (grounding dino +SAM) for automated labelling of 2400 train images and 400 validation and test images each  with 10 ontologies. </a:t>
            </a:r>
          </a:p>
          <a:p>
            <a:r>
              <a:rPr lang="en-US" dirty="0"/>
              <a:t>Probably using Labelimg tool for this task would have provided with more proper annotation but considering size of dataset we decided not to do it manually.</a:t>
            </a:r>
          </a:p>
          <a:p>
            <a:endParaRPr lang="en-US" dirty="0"/>
          </a:p>
        </p:txBody>
      </p:sp>
    </p:spTree>
    <p:extLst>
      <p:ext uri="{BB962C8B-B14F-4D97-AF65-F5344CB8AC3E}">
        <p14:creationId xmlns:p14="http://schemas.microsoft.com/office/powerpoint/2010/main" val="467023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7D83F-9002-1590-4E50-7440E0AEE6DC}"/>
              </a:ext>
            </a:extLst>
          </p:cNvPr>
          <p:cNvSpPr>
            <a:spLocks noGrp="1"/>
          </p:cNvSpPr>
          <p:nvPr>
            <p:ph type="title"/>
          </p:nvPr>
        </p:nvSpPr>
        <p:spPr/>
        <p:txBody>
          <a:bodyPr/>
          <a:lstStyle/>
          <a:p>
            <a:r>
              <a:rPr lang="en-US" dirty="0"/>
              <a:t>Parameters and Hyperparameters</a:t>
            </a:r>
          </a:p>
        </p:txBody>
      </p:sp>
      <p:sp>
        <p:nvSpPr>
          <p:cNvPr id="3" name="Content Placeholder 2">
            <a:extLst>
              <a:ext uri="{FF2B5EF4-FFF2-40B4-BE49-F238E27FC236}">
                <a16:creationId xmlns:a16="http://schemas.microsoft.com/office/drawing/2014/main" id="{2A3839CB-2D52-EFED-A0EC-51E0DD7DAA1F}"/>
              </a:ext>
            </a:extLst>
          </p:cNvPr>
          <p:cNvSpPr>
            <a:spLocks noGrp="1"/>
          </p:cNvSpPr>
          <p:nvPr>
            <p:ph idx="1"/>
          </p:nvPr>
        </p:nvSpPr>
        <p:spPr/>
        <p:txBody>
          <a:bodyPr/>
          <a:lstStyle/>
          <a:p>
            <a:r>
              <a:rPr lang="en-US" b="1" i="0" dirty="0">
                <a:solidFill>
                  <a:srgbClr val="1F1F1F"/>
                </a:solidFill>
                <a:effectLst/>
                <a:latin typeface="Google Sans"/>
              </a:rPr>
              <a:t>Optimizer:</a:t>
            </a:r>
            <a:r>
              <a:rPr lang="en-US" b="0" i="0" dirty="0">
                <a:solidFill>
                  <a:srgbClr val="1F1F1F"/>
                </a:solidFill>
                <a:effectLst/>
                <a:latin typeface="Google Sans"/>
              </a:rPr>
              <a:t> SGD (Stochastic Gradient Descent)</a:t>
            </a:r>
          </a:p>
          <a:p>
            <a:r>
              <a:rPr lang="en-US" b="1" i="0" dirty="0">
                <a:solidFill>
                  <a:srgbClr val="1F1F1F"/>
                </a:solidFill>
                <a:effectLst/>
                <a:latin typeface="Google Sans"/>
              </a:rPr>
              <a:t>learning rate </a:t>
            </a:r>
            <a:r>
              <a:rPr lang="en-US" b="0" i="0" dirty="0">
                <a:solidFill>
                  <a:srgbClr val="1F1F1F"/>
                </a:solidFill>
                <a:effectLst/>
                <a:latin typeface="Google Sans"/>
              </a:rPr>
              <a:t>: 0.01.</a:t>
            </a:r>
          </a:p>
          <a:p>
            <a:r>
              <a:rPr lang="en-US" b="1" i="0" dirty="0">
                <a:solidFill>
                  <a:srgbClr val="1F1F1F"/>
                </a:solidFill>
                <a:effectLst/>
                <a:latin typeface="Google Sans"/>
              </a:rPr>
              <a:t>Batch Size:</a:t>
            </a:r>
            <a:r>
              <a:rPr lang="en-US" b="0" i="0" dirty="0">
                <a:solidFill>
                  <a:srgbClr val="1F1F1F"/>
                </a:solidFill>
                <a:effectLst/>
                <a:latin typeface="Google Sans"/>
              </a:rPr>
              <a:t> 32 </a:t>
            </a:r>
            <a:endParaRPr lang="en-US" dirty="0">
              <a:solidFill>
                <a:srgbClr val="1F1F1F"/>
              </a:solidFill>
              <a:latin typeface="Google Sans"/>
            </a:endParaRPr>
          </a:p>
          <a:p>
            <a:r>
              <a:rPr lang="en-US" b="1" i="0" dirty="0">
                <a:solidFill>
                  <a:srgbClr val="1F1F1F"/>
                </a:solidFill>
                <a:effectLst/>
                <a:latin typeface="Google Sans"/>
              </a:rPr>
              <a:t>Image Size:</a:t>
            </a:r>
            <a:r>
              <a:rPr lang="en-US" i="0" dirty="0">
                <a:solidFill>
                  <a:srgbClr val="1F1F1F"/>
                </a:solidFill>
                <a:effectLst/>
                <a:latin typeface="Google Sans"/>
              </a:rPr>
              <a:t> 256*256 px.</a:t>
            </a:r>
          </a:p>
          <a:p>
            <a:r>
              <a:rPr lang="en-US" b="1" i="0" dirty="0">
                <a:solidFill>
                  <a:srgbClr val="1F1F1F"/>
                </a:solidFill>
                <a:effectLst/>
                <a:latin typeface="Google Sans"/>
              </a:rPr>
              <a:t>Epochs:</a:t>
            </a:r>
            <a:r>
              <a:rPr lang="en-US" dirty="0">
                <a:solidFill>
                  <a:srgbClr val="1F1F1F"/>
                </a:solidFill>
                <a:latin typeface="Google Sans"/>
              </a:rPr>
              <a:t> 10 and 50.</a:t>
            </a:r>
          </a:p>
          <a:p>
            <a:r>
              <a:rPr lang="en-US" b="1" dirty="0">
                <a:solidFill>
                  <a:srgbClr val="1F1F1F"/>
                </a:solidFill>
                <a:latin typeface="Google Sans"/>
              </a:rPr>
              <a:t>Layers in architecture </a:t>
            </a:r>
            <a:r>
              <a:rPr lang="en-US" dirty="0">
                <a:solidFill>
                  <a:srgbClr val="1F1F1F"/>
                </a:solidFill>
                <a:latin typeface="Google Sans"/>
              </a:rPr>
              <a:t>: 930.</a:t>
            </a:r>
          </a:p>
          <a:p>
            <a:endParaRPr lang="en-US" dirty="0"/>
          </a:p>
        </p:txBody>
      </p:sp>
    </p:spTree>
    <p:extLst>
      <p:ext uri="{BB962C8B-B14F-4D97-AF65-F5344CB8AC3E}">
        <p14:creationId xmlns:p14="http://schemas.microsoft.com/office/powerpoint/2010/main" val="520811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BE553D-63FA-B5A3-38AD-54FB24801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935" y="307924"/>
            <a:ext cx="8714335" cy="4320347"/>
          </a:xfrm>
          <a:prstGeom prst="rect">
            <a:avLst/>
          </a:prstGeom>
        </p:spPr>
      </p:pic>
    </p:spTree>
    <p:extLst>
      <p:ext uri="{BB962C8B-B14F-4D97-AF65-F5344CB8AC3E}">
        <p14:creationId xmlns:p14="http://schemas.microsoft.com/office/powerpoint/2010/main" val="2125827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2ABA4B-D9DE-C283-A14B-1411B2F70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555" y="569022"/>
            <a:ext cx="5544324" cy="2962688"/>
          </a:xfrm>
          <a:prstGeom prst="rect">
            <a:avLst/>
          </a:prstGeom>
        </p:spPr>
      </p:pic>
      <p:pic>
        <p:nvPicPr>
          <p:cNvPr id="5" name="Picture 4">
            <a:extLst>
              <a:ext uri="{FF2B5EF4-FFF2-40B4-BE49-F238E27FC236}">
                <a16:creationId xmlns:a16="http://schemas.microsoft.com/office/drawing/2014/main" id="{A280FEBC-C36C-2197-6418-6D81CA56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555" y="3516816"/>
            <a:ext cx="8640381" cy="2772162"/>
          </a:xfrm>
          <a:prstGeom prst="rect">
            <a:avLst/>
          </a:prstGeom>
        </p:spPr>
      </p:pic>
    </p:spTree>
    <p:extLst>
      <p:ext uri="{BB962C8B-B14F-4D97-AF65-F5344CB8AC3E}">
        <p14:creationId xmlns:p14="http://schemas.microsoft.com/office/powerpoint/2010/main" val="436750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14604E-EE2E-154B-6495-1271707ED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755" y="1033128"/>
            <a:ext cx="10850489" cy="4791744"/>
          </a:xfrm>
          <a:prstGeom prst="rect">
            <a:avLst/>
          </a:prstGeom>
        </p:spPr>
      </p:pic>
    </p:spTree>
    <p:extLst>
      <p:ext uri="{BB962C8B-B14F-4D97-AF65-F5344CB8AC3E}">
        <p14:creationId xmlns:p14="http://schemas.microsoft.com/office/powerpoint/2010/main" val="455311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79A74-B950-5926-37D8-0D90BDEC0DAC}"/>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4C474083-7E2F-C02F-203D-64129E7820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418" y="211015"/>
            <a:ext cx="12173430" cy="6499175"/>
          </a:xfrm>
        </p:spPr>
      </p:pic>
    </p:spTree>
    <p:extLst>
      <p:ext uri="{BB962C8B-B14F-4D97-AF65-F5344CB8AC3E}">
        <p14:creationId xmlns:p14="http://schemas.microsoft.com/office/powerpoint/2010/main" val="1324517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66A6B-AC14-0DDE-4CF0-184367F09F5F}"/>
              </a:ext>
            </a:extLst>
          </p:cNvPr>
          <p:cNvSpPr>
            <a:spLocks noGrp="1"/>
          </p:cNvSpPr>
          <p:nvPr>
            <p:ph type="title"/>
          </p:nvPr>
        </p:nvSpPr>
        <p:spPr/>
        <p:txBody>
          <a:bodyPr/>
          <a:lstStyle/>
          <a:p>
            <a:r>
              <a:rPr lang="en-US" dirty="0"/>
              <a:t>Results of the Training</a:t>
            </a:r>
          </a:p>
        </p:txBody>
      </p:sp>
      <p:sp>
        <p:nvSpPr>
          <p:cNvPr id="3" name="Content Placeholder 2">
            <a:extLst>
              <a:ext uri="{FF2B5EF4-FFF2-40B4-BE49-F238E27FC236}">
                <a16:creationId xmlns:a16="http://schemas.microsoft.com/office/drawing/2014/main" id="{266A98D8-C954-FE5E-8780-4B1764534D81}"/>
              </a:ext>
            </a:extLst>
          </p:cNvPr>
          <p:cNvSpPr>
            <a:spLocks noGrp="1"/>
          </p:cNvSpPr>
          <p:nvPr>
            <p:ph idx="1"/>
          </p:nvPr>
        </p:nvSpPr>
        <p:spPr/>
        <p:txBody>
          <a:bodyPr>
            <a:normAutofit/>
          </a:bodyPr>
          <a:lstStyle/>
          <a:p>
            <a:r>
              <a:rPr lang="en-US" dirty="0"/>
              <a:t>After training the dataset with the parameters as shown above we got max mAP-50 of around 0.75</a:t>
            </a:r>
          </a:p>
          <a:p>
            <a:r>
              <a:rPr lang="en-US" dirty="0"/>
              <a:t>Although the results were not so precise in actual predictions </a:t>
            </a:r>
          </a:p>
          <a:p>
            <a:r>
              <a:rPr lang="en-US" dirty="0"/>
              <a:t>The results are summarized in the coming slides.</a:t>
            </a:r>
          </a:p>
          <a:p>
            <a:r>
              <a:rPr lang="en-US" dirty="0"/>
              <a:t>These Results as summarized from above ones suggest that with our dataset the classification task of E waste </a:t>
            </a:r>
            <a:r>
              <a:rPr lang="en-US" dirty="0" err="1"/>
              <a:t>Seggregator</a:t>
            </a:r>
            <a:r>
              <a:rPr lang="en-US" dirty="0"/>
              <a:t> is well performed by Resnet 50 model.</a:t>
            </a:r>
          </a:p>
          <a:p>
            <a:endParaRPr lang="en-US" dirty="0"/>
          </a:p>
        </p:txBody>
      </p:sp>
    </p:spTree>
    <p:extLst>
      <p:ext uri="{BB962C8B-B14F-4D97-AF65-F5344CB8AC3E}">
        <p14:creationId xmlns:p14="http://schemas.microsoft.com/office/powerpoint/2010/main" val="3466099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80D576-569A-5134-1DC7-C6A92AD088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97" y="123607"/>
            <a:ext cx="5334744" cy="4163006"/>
          </a:xfrm>
          <a:prstGeom prst="rect">
            <a:avLst/>
          </a:prstGeom>
        </p:spPr>
      </p:pic>
      <p:pic>
        <p:nvPicPr>
          <p:cNvPr id="7" name="Picture 6">
            <a:extLst>
              <a:ext uri="{FF2B5EF4-FFF2-40B4-BE49-F238E27FC236}">
                <a16:creationId xmlns:a16="http://schemas.microsoft.com/office/drawing/2014/main" id="{859B6CF1-A1BA-DFD9-32B5-C842006E1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7180" y="123607"/>
            <a:ext cx="2243945" cy="2734808"/>
          </a:xfrm>
          <a:prstGeom prst="rect">
            <a:avLst/>
          </a:prstGeom>
        </p:spPr>
      </p:pic>
      <p:pic>
        <p:nvPicPr>
          <p:cNvPr id="9" name="Picture 8">
            <a:extLst>
              <a:ext uri="{FF2B5EF4-FFF2-40B4-BE49-F238E27FC236}">
                <a16:creationId xmlns:a16="http://schemas.microsoft.com/office/drawing/2014/main" id="{7B1173CF-6CEE-6F7B-166D-A8B0085FF7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000558"/>
            <a:ext cx="4975274" cy="3032334"/>
          </a:xfrm>
          <a:prstGeom prst="rect">
            <a:avLst/>
          </a:prstGeom>
        </p:spPr>
      </p:pic>
      <p:pic>
        <p:nvPicPr>
          <p:cNvPr id="11" name="Picture 10">
            <a:extLst>
              <a:ext uri="{FF2B5EF4-FFF2-40B4-BE49-F238E27FC236}">
                <a16:creationId xmlns:a16="http://schemas.microsoft.com/office/drawing/2014/main" id="{BAC45CA0-F0C1-59BD-EF24-E549091C73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0233" y="214483"/>
            <a:ext cx="3898370" cy="2553056"/>
          </a:xfrm>
          <a:prstGeom prst="rect">
            <a:avLst/>
          </a:prstGeom>
        </p:spPr>
      </p:pic>
      <p:sp>
        <p:nvSpPr>
          <p:cNvPr id="12" name="TextBox 11">
            <a:extLst>
              <a:ext uri="{FF2B5EF4-FFF2-40B4-BE49-F238E27FC236}">
                <a16:creationId xmlns:a16="http://schemas.microsoft.com/office/drawing/2014/main" id="{E739A806-9B1C-CE7F-6111-3228DD34166A}"/>
              </a:ext>
            </a:extLst>
          </p:cNvPr>
          <p:cNvSpPr txBox="1"/>
          <p:nvPr/>
        </p:nvSpPr>
        <p:spPr>
          <a:xfrm>
            <a:off x="137589" y="4487595"/>
            <a:ext cx="5334744" cy="830997"/>
          </a:xfrm>
          <a:prstGeom prst="rect">
            <a:avLst/>
          </a:prstGeom>
          <a:noFill/>
        </p:spPr>
        <p:txBody>
          <a:bodyPr wrap="square" rtlCol="0">
            <a:spAutoFit/>
          </a:bodyPr>
          <a:lstStyle/>
          <a:p>
            <a:r>
              <a:rPr lang="en-US" sz="2400" dirty="0"/>
              <a:t>A sample of the validation images prediction after training.</a:t>
            </a:r>
          </a:p>
        </p:txBody>
      </p:sp>
    </p:spTree>
    <p:extLst>
      <p:ext uri="{BB962C8B-B14F-4D97-AF65-F5344CB8AC3E}">
        <p14:creationId xmlns:p14="http://schemas.microsoft.com/office/powerpoint/2010/main" val="1033269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DF8FEF-E810-6735-1937-E751051F4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5548"/>
            <a:ext cx="6443003" cy="5325218"/>
          </a:xfrm>
          <a:prstGeom prst="rect">
            <a:avLst/>
          </a:prstGeom>
        </p:spPr>
      </p:pic>
      <p:pic>
        <p:nvPicPr>
          <p:cNvPr id="5" name="Picture 4">
            <a:extLst>
              <a:ext uri="{FF2B5EF4-FFF2-40B4-BE49-F238E27FC236}">
                <a16:creationId xmlns:a16="http://schemas.microsoft.com/office/drawing/2014/main" id="{36D01FFF-B6DE-4394-7873-CA42B3C23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003" y="175548"/>
            <a:ext cx="5929640" cy="5550003"/>
          </a:xfrm>
          <a:prstGeom prst="rect">
            <a:avLst/>
          </a:prstGeom>
        </p:spPr>
      </p:pic>
    </p:spTree>
    <p:extLst>
      <p:ext uri="{BB962C8B-B14F-4D97-AF65-F5344CB8AC3E}">
        <p14:creationId xmlns:p14="http://schemas.microsoft.com/office/powerpoint/2010/main" val="554820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3E4C34-AAAA-F5B2-E879-F5289FD53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8309317" cy="6231988"/>
          </a:xfrm>
          <a:prstGeom prst="rect">
            <a:avLst/>
          </a:prstGeom>
        </p:spPr>
      </p:pic>
      <p:sp>
        <p:nvSpPr>
          <p:cNvPr id="4" name="TextBox 3">
            <a:extLst>
              <a:ext uri="{FF2B5EF4-FFF2-40B4-BE49-F238E27FC236}">
                <a16:creationId xmlns:a16="http://schemas.microsoft.com/office/drawing/2014/main" id="{C926FEE2-61D2-0FBF-19F6-D45A1EB3EDCE}"/>
              </a:ext>
            </a:extLst>
          </p:cNvPr>
          <p:cNvSpPr txBox="1"/>
          <p:nvPr/>
        </p:nvSpPr>
        <p:spPr>
          <a:xfrm>
            <a:off x="3235569" y="6231988"/>
            <a:ext cx="6724357" cy="369332"/>
          </a:xfrm>
          <a:prstGeom prst="rect">
            <a:avLst/>
          </a:prstGeom>
          <a:noFill/>
        </p:spPr>
        <p:txBody>
          <a:bodyPr wrap="square" rtlCol="0">
            <a:spAutoFit/>
          </a:bodyPr>
          <a:lstStyle/>
          <a:p>
            <a:r>
              <a:rPr lang="en-US" dirty="0"/>
              <a:t>Confusion matrix : As clear it didn’t give much appreciating results </a:t>
            </a:r>
          </a:p>
        </p:txBody>
      </p:sp>
    </p:spTree>
    <p:extLst>
      <p:ext uri="{BB962C8B-B14F-4D97-AF65-F5344CB8AC3E}">
        <p14:creationId xmlns:p14="http://schemas.microsoft.com/office/powerpoint/2010/main" val="2376510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DF1F2-5CDE-8CBE-A3D7-2E3A15DEA3C9}"/>
              </a:ext>
            </a:extLst>
          </p:cNvPr>
          <p:cNvSpPr>
            <a:spLocks noGrp="1"/>
          </p:cNvSpPr>
          <p:nvPr>
            <p:ph type="title"/>
          </p:nvPr>
        </p:nvSpPr>
        <p:spPr/>
        <p:txBody>
          <a:bodyPr/>
          <a:lstStyle/>
          <a:p>
            <a:r>
              <a:rPr lang="en-US" dirty="0"/>
              <a:t>Challenges Faced</a:t>
            </a:r>
          </a:p>
        </p:txBody>
      </p:sp>
      <p:sp>
        <p:nvSpPr>
          <p:cNvPr id="3" name="Content Placeholder 2">
            <a:extLst>
              <a:ext uri="{FF2B5EF4-FFF2-40B4-BE49-F238E27FC236}">
                <a16:creationId xmlns:a16="http://schemas.microsoft.com/office/drawing/2014/main" id="{F318C282-761F-31AE-8ED7-D6F63F9E47A2}"/>
              </a:ext>
            </a:extLst>
          </p:cNvPr>
          <p:cNvSpPr>
            <a:spLocks noGrp="1"/>
          </p:cNvSpPr>
          <p:nvPr>
            <p:ph idx="1"/>
          </p:nvPr>
        </p:nvSpPr>
        <p:spPr/>
        <p:txBody>
          <a:bodyPr/>
          <a:lstStyle/>
          <a:p>
            <a:r>
              <a:rPr lang="en-US" dirty="0"/>
              <a:t>We encountered several challenges while implementing the YOLOv9 model on the dataset</a:t>
            </a:r>
          </a:p>
          <a:p>
            <a:r>
              <a:rPr lang="en-US" dirty="0"/>
              <a:t>One of the challenges which we found most difficult was automated data annotation in accordance with YOLO We used </a:t>
            </a:r>
            <a:r>
              <a:rPr lang="en-US" dirty="0" err="1"/>
              <a:t>autodistrill</a:t>
            </a:r>
            <a:r>
              <a:rPr lang="en-US" dirty="0"/>
              <a:t> but it didn’t turned out to be that good due to some missing keyword in ontology and other reasons.</a:t>
            </a:r>
          </a:p>
          <a:p>
            <a:endParaRPr lang="en-US" dirty="0"/>
          </a:p>
        </p:txBody>
      </p:sp>
    </p:spTree>
    <p:extLst>
      <p:ext uri="{BB962C8B-B14F-4D97-AF65-F5344CB8AC3E}">
        <p14:creationId xmlns:p14="http://schemas.microsoft.com/office/powerpoint/2010/main" val="394942611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260</TotalTime>
  <Words>1809</Words>
  <Application>Microsoft Office PowerPoint</Application>
  <PresentationFormat>Widescreen</PresentationFormat>
  <Paragraphs>126</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View</vt:lpstr>
      <vt:lpstr>E WASTE CLASSIFICATION</vt:lpstr>
      <vt:lpstr>Dataset</vt:lpstr>
      <vt:lpstr>Image preprocessing</vt:lpstr>
      <vt:lpstr>PowerPoint Presentation</vt:lpstr>
      <vt:lpstr>Data loader</vt:lpstr>
      <vt:lpstr>Why pretrained?</vt:lpstr>
      <vt:lpstr>Why VGG16</vt:lpstr>
      <vt:lpstr>Model hyperparameters</vt:lpstr>
      <vt:lpstr>Why Resnet50</vt:lpstr>
      <vt:lpstr>PowerPoint Presentation</vt:lpstr>
      <vt:lpstr>                            Testing model</vt:lpstr>
      <vt:lpstr>Model hyperparameters</vt:lpstr>
      <vt:lpstr>Accuracy, confusion matrix , comparison</vt:lpstr>
      <vt:lpstr>PowerPoint Presentation</vt:lpstr>
      <vt:lpstr>For vgg16 </vt:lpstr>
      <vt:lpstr>For vgg 16   Number of epochs = 10 Learning rate = 0.01 Optimiser = SGD Loss = Cross entropy loss Accuracy= 95.33 </vt:lpstr>
      <vt:lpstr>  </vt:lpstr>
      <vt:lpstr>PowerPoint Presentation</vt:lpstr>
      <vt:lpstr>PowerPoint Presentation</vt:lpstr>
      <vt:lpstr>YOLOv9 : Introduction</vt:lpstr>
      <vt:lpstr>Comparison with other models</vt:lpstr>
      <vt:lpstr>Comparison (contd.)</vt:lpstr>
      <vt:lpstr>Training model</vt:lpstr>
      <vt:lpstr>Parameters and Hyperparameters</vt:lpstr>
      <vt:lpstr>PowerPoint Presentation</vt:lpstr>
      <vt:lpstr>PowerPoint Presentation</vt:lpstr>
      <vt:lpstr>PowerPoint Presentation</vt:lpstr>
      <vt:lpstr>PowerPoint Presentation</vt:lpstr>
      <vt:lpstr>Results of the Training</vt:lpstr>
      <vt:lpstr>PowerPoint Presentation</vt:lpstr>
      <vt:lpstr>PowerPoint Presentation</vt:lpstr>
      <vt:lpstr>PowerPoint Presentation</vt:lpstr>
      <vt:lpstr>Challenges Faced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Srita Shukla</dc:creator>
  <cp:lastModifiedBy>AAYUSH RAI</cp:lastModifiedBy>
  <cp:revision>11</cp:revision>
  <dcterms:created xsi:type="dcterms:W3CDTF">2024-04-03T16:13:28Z</dcterms:created>
  <dcterms:modified xsi:type="dcterms:W3CDTF">2024-04-04T15:08:27Z</dcterms:modified>
</cp:coreProperties>
</file>